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c7c30c4d94471" /><Relationship Type="http://schemas.openxmlformats.org/officeDocument/2006/relationships/extended-properties" Target="/docProps/app.xml" Id="Rdfb68fadf2d942ef" /><Relationship Type="http://schemas.openxmlformats.org/officeDocument/2006/relationships/officeDocument" Target="/ppt/presentation.xml" Id="Rb29cf0b3f754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13ed2f4ac4838"/>
  </p:sldMasterIdLst>
  <p:notesMasterIdLst>
    <p:notesMasterId xmlns:r="http://schemas.openxmlformats.org/officeDocument/2006/relationships" r:id="R672fbf0b71fc4ca3"/>
  </p:notesMasterIdLst>
  <p:sldIdLst>
    <p:sldId xmlns:r="http://schemas.openxmlformats.org/officeDocument/2006/relationships" id="256" r:id="R4809748992cd4985"/>
    <p:sldId xmlns:r="http://schemas.openxmlformats.org/officeDocument/2006/relationships" id="257" r:id="R2f845ecead854fc8"/>
    <p:sldId xmlns:r="http://schemas.openxmlformats.org/officeDocument/2006/relationships" id="258" r:id="R83a20c302f804684"/>
    <p:sldId xmlns:r="http://schemas.openxmlformats.org/officeDocument/2006/relationships" id="259" r:id="Re7887044b2a34cd6"/>
    <p:sldId xmlns:r="http://schemas.openxmlformats.org/officeDocument/2006/relationships" id="260" r:id="Rfb32360e772347d3"/>
    <p:sldId xmlns:r="http://schemas.openxmlformats.org/officeDocument/2006/relationships" id="261" r:id="Reaa631926e6543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8d33e1a9e941ea" /><Relationship Type="http://schemas.openxmlformats.org/officeDocument/2006/relationships/slideMaster" Target="/ppt/slideMasters/slideMaster1.xml" Id="R40113ed2f4ac4838" /><Relationship Type="http://schemas.openxmlformats.org/officeDocument/2006/relationships/notesMaster" Target="/ppt/notesMasters/notesMaster1.xml" Id="R672fbf0b71fc4ca3" /><Relationship Type="http://schemas.openxmlformats.org/officeDocument/2006/relationships/presProps" Target="/ppt/presProps.xml" Id="R6a954320db084c72" /><Relationship Type="http://schemas.openxmlformats.org/officeDocument/2006/relationships/tableStyles" Target="/ppt/tableStyles.xml" Id="R973b6a0764b5431a" /><Relationship Type="http://schemas.openxmlformats.org/officeDocument/2006/relationships/slide" Target="/ppt/slides/slide1.xml" Id="R4809748992cd4985" /><Relationship Type="http://schemas.openxmlformats.org/officeDocument/2006/relationships/slide" Target="/ppt/slides/slide2.xml" Id="R2f845ecead854fc8" /><Relationship Type="http://schemas.openxmlformats.org/officeDocument/2006/relationships/slide" Target="/ppt/slides/slide3.xml" Id="R83a20c302f804684" /><Relationship Type="http://schemas.openxmlformats.org/officeDocument/2006/relationships/slide" Target="/ppt/slides/slide4.xml" Id="Re7887044b2a34cd6" /><Relationship Type="http://schemas.openxmlformats.org/officeDocument/2006/relationships/slide" Target="/ppt/slides/slide5.xml" Id="Rfb32360e772347d3" /><Relationship Type="http://schemas.openxmlformats.org/officeDocument/2006/relationships/slide" Target="/ppt/slides/slide6.xml" Id="Reaa631926e65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050bd47d542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bf95277d640fa" /><Relationship Type="http://schemas.openxmlformats.org/officeDocument/2006/relationships/notesMaster" Target="/ppt/notesMasters/notesMaster1.xml" Id="Rebe4866233f247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5bb26af0c42d8" /><Relationship Type="http://schemas.openxmlformats.org/officeDocument/2006/relationships/notesMaster" Target="/ppt/notesMasters/notesMaster1.xml" Id="R3ca1bb903617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9d87dd1f5e4a8d" /><Relationship Type="http://schemas.openxmlformats.org/officeDocument/2006/relationships/notesMaster" Target="/ppt/notesMasters/notesMaster1.xml" Id="Rbd31f4dad0cd43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2a3d1eede0445c" /><Relationship Type="http://schemas.openxmlformats.org/officeDocument/2006/relationships/notesMaster" Target="/ppt/notesMasters/notesMaster1.xml" Id="R5e6613189b3c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525321f9cd459b" /><Relationship Type="http://schemas.openxmlformats.org/officeDocument/2006/relationships/notesMaster" Target="/ppt/notesMasters/notesMaster1.xml" Id="Raf268ac2516b45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7064c45d04781" /><Relationship Type="http://schemas.openxmlformats.org/officeDocument/2006/relationships/notesMaster" Target="/ppt/notesMasters/notesMaster1.xml" Id="Rc06819ef2fa5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customer outcome: safer work, clearer visibility, and a practical path to adoption.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https://www.cat.com/en_US/products/new/technology/equipment-management/equipment-management/102680.html</a:t>
            </a:r>
          </a:p>
          <a:p xmlns:a="http://schemas.openxmlformats.org/drawingml/2006/main">
            <a:r>
              <a:t>- https://www.cat.com/en_US/news/machine-press-releases/caterpillar-brings-intelligent-solutions-to-life.html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https://www.cat.com/en_US/products/new/technology/equipment-management/equipment-management/102680.html</a:t>
            </a:r>
          </a:p>
          <a:p xmlns:a="http://schemas.openxmlformats.org/drawingml/2006/main">
            <a:r>
              <a:t>- https://www.cat.com/en_US/news/machine-press-releases/caterpillar-brings-intelligent-solutions-to-life.html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https://www.cat.com/en_US/news/machine-press-releases/caterpillar-brings-intelligent-solutions-to-life.html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https://www.cat.com/en_US/news/machine-press-releases/caterpillar-brings-intelligent-solutions-to-life.html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https://www.cat.com/en_US/products/new/technology/equipment-management/equipment-management/102680.html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https://www.cat.com/en_US/products/new/technology/equipment-management/equipment-management/102680.html</a:t>
            </a:r>
          </a:p>
          <a:p xmlns:a="http://schemas.openxmlformats.org/drawingml/2006/main">
            <a:r>
              <a:t>- https://www.cat.com/en_US/news/machine-press-releases/caterpillar-brings-intelligent-solutions-to-life.html</a:t>
            </a:r>
          </a:p>
          <a:p xmlns:a="http://schemas.openxmlformats.org/drawingml/2006/main">
            <a:r>
              <a:t>- https://www.cat.com/en_US/products/new/attachments/technology-kits/technology-kits/113020.html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938f45bca4e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b6617d6930411a" /><Relationship Type="http://schemas.openxmlformats.org/officeDocument/2006/relationships/slideLayout" Target="/ppt/slideLayouts/slideLayout1.xml" Id="R4b5e62745d9641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e62745d9641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c65439ab84769" /><Relationship Type="http://schemas.openxmlformats.org/officeDocument/2006/relationships/notesSlide" Target="/ppt/notesSlides/notesSlide1.xml" Id="Re1b3d320d40f47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70844e9543b2" /><Relationship Type="http://schemas.openxmlformats.org/officeDocument/2006/relationships/notesSlide" Target="/ppt/notesSlides/notesSlide2.xml" Id="Rda1df7eb279845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aa5d765744403" /><Relationship Type="http://schemas.openxmlformats.org/officeDocument/2006/relationships/notesSlide" Target="/ppt/notesSlides/notesSlide3.xml" Id="Rddcbcd1ffe83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54a319d35439b" /><Relationship Type="http://schemas.openxmlformats.org/officeDocument/2006/relationships/notesSlide" Target="/ppt/notesSlides/notesSlide4.xml" Id="Rdae7f00752844d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ba04fbc1443b" /><Relationship Type="http://schemas.openxmlformats.org/officeDocument/2006/relationships/notesSlide" Target="/ppt/notesSlides/notesSlide5.xml" Id="R4dac2a71b2574e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5efc6a6cb4d03" /><Relationship Type="http://schemas.openxmlformats.org/officeDocument/2006/relationships/notesSlide" Target="/ppt/notesSlides/notesSlide6.xml" Id="Ra3d3633aec8b46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F20D0-8AFF-4C42-A2C5-3EDF25D1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816A6-D528-45C1-ABF0-35DE6A1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1656B"/>
                </a:solidFill>
              </a:defRPr>
            </a:pPr>
            <a:r>
              <a:rPr sz="1125" b="1">
                <a:solidFill>
                  <a:srgbClr val="61656B"/>
                </a:solidFill>
              </a:rPr>
              <a:t>CUSTOMER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E640C-EEBF-4E9C-A7DE-54F17664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Turn safety events into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E9F28-B233-48CB-A68F-3421680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656B"/>
                </a:solidFill>
              </a:defRPr>
            </a:pPr>
            <a:r>
              <a:rPr sz="1800" b="0">
                <a:solidFill>
                  <a:srgbClr val="61656B"/>
                </a:solidFill>
              </a:rPr>
              <a:t>A high-level look at the Safety experience in VisionLink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0DE4-1FC3-4254-A948-CAC8025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3B280-05A6-4026-A7E6-721824D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Carter Machinery Site Services</a:t>
            </a:r>
          </a:p>
        </p:txBody>
      </p:sp>
    </p:spTree>
    <p:extLst>
      <p:ext uri="{BB962C8B-B14F-4D97-AF65-F5344CB8AC3E}">
        <p14:creationId xmlns:p14="http://schemas.microsoft.com/office/powerpoint/2010/main" val="1577642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03C7A-BFB5-4E31-876F-9B8F507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6998D-BB28-4F3E-8BB2-C1419925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3513C-1233-4C4B-9E90-597720A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VisionLink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8DC8E-258B-4B93-BEF8-336DE9C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1114C-D2AF-408B-ADBB-82804D70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6184E-7732-42C8-90CA-F8A3895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Safety improves when leaders can see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33373-E1B6-4EE6-917B-3D189CC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52D89-8DF1-488B-A89C-40DC5447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Individual alerts matter. Connected event history helps the team find repeated risk, focus coaching, and follow through.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D743D-E762-47CC-863D-67A0D191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526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70B96-10E1-4056-A071-7679D761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One shared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00428-3A25-4044-9871-82CC05C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E6E6"/>
                </a:solidFill>
              </a:defRPr>
            </a:pPr>
            <a:r>
              <a:rPr sz="1425" b="0">
                <a:solidFill>
                  <a:srgbClr val="E6E6E6"/>
                </a:solidFill>
              </a:rPr>
              <a:t>Bring supported safety information into the same cloud-based environment used to manage fleet activity.</a:t>
            </a:r>
          </a:p>
        </p:txBody>
      </p:sp>
    </p:spTree>
    <p:extLst>
      <p:ext uri="{BB962C8B-B14F-4D97-AF65-F5344CB8AC3E}">
        <p14:creationId xmlns:p14="http://schemas.microsoft.com/office/powerpoint/2010/main" val="13170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96BB5-EBDB-4656-AFCC-19D840D6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58E58-4C75-432E-B9DB-3B249736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F6A82-F9BB-4277-B9A1-2D6DE1AB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VisionLink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F195D-718C-4D16-9478-4378E853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569F6-1BA5-4B52-942E-B8A1150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WHAT IT PROVIDES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AB99D-289A-408A-A9EE-260FAB8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The Safety view connects events, context, and trends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1C260-3E86-4662-A8F4-8585D30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CB092-860B-44A9-B5B5-A065AA45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A56A6-2BFF-40A5-A160-7335C68E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FD3CC-903A-404D-B52C-1005A25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See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1330-A114-4D25-AD46-8756976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04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Review supported safety events reported from connected machine technologies.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67EE5-7345-40C9-A8AB-82927D2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0F33-E705-44DA-AC4D-C41C78B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D7D43-E3E9-45C9-9569-EBD1C20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Add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B56DB-30AC-41C2-A839-0B5239D4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04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Understand the asset, time, location, and available event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52B34-2F35-4973-A9FC-C26139B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E3681-B9C6-4F94-8A4E-205CD90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0D5FD-0C70-483D-8AA9-01DE0C8C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Spot trends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D6992-F89F-4767-ABF4-9500B2D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71850"/>
            <a:ext cx="304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Look beyond one alert to identify repeated behaviors or jobsite risk patterns.</a:t>
            </a:r>
          </a:p>
        </p:txBody>
      </p:sp>
    </p:spTree>
    <p:extLst>
      <p:ext uri="{BB962C8B-B14F-4D97-AF65-F5344CB8AC3E}">
        <p14:creationId xmlns:p14="http://schemas.microsoft.com/office/powerpoint/2010/main" val="1837780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79085-6B60-45C5-A69E-2B8896CE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81F64-A229-4EAD-B8F2-9ABFE6A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427B3-423C-49FC-AF0B-BCE9718B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VisionLink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10C7D-8BE2-4863-A0C3-FDE81218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9BCE6-3928-41F4-8854-4223005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SIMPLE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CC910-4C0F-42BD-8B8A-1DE215E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Move from notification to a better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68BA6-574B-4ADD-BCEA-C3504971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27A68-5E75-4D99-B3DB-C6660BE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22497-68C1-4F5D-AD6D-75687B58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09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D8981-D379-4DF4-9C36-1C9A0C4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Compatible onboard technology records a safety-related event.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F6322-1D32-4A71-AC9A-24AAFE6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3B705-C95C-469A-9BFD-6E40114D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B6E37-EE00-4F32-BF3A-F3DF1283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52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0E124-FD84-4D68-A4D2-03D3E606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The event becomes visible to authorized users in VisionLink.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35C87-5E6A-400F-A03F-E8149A5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045BD-5118-40F5-B03B-63E06CC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18663-0B24-4DC3-BBBE-E11BA3A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A52E-BEA1-4D82-964A-3E004F9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Supervisors review context and determine the right follow-up.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42D97-D2A9-4E28-A5DD-ACAA284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7E5C-7E80-40F7-98FD-7F8BC1B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25BB6-F489-4B13-9FBB-C07E99C8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38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Improve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06DCC-9BBF-4481-B724-AEA8AF5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0"/>
            <a:ext cx="623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Teams use trends to guide coaching, process changes,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792836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ABA6E-0754-40DC-9573-936E59ED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F89FC-79A5-434D-84E2-F51F0F4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B651-A376-4CCD-B42D-D7EF325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VisionLink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87ED1-9692-4B47-ABAD-AC68156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E73D8-285C-47AC-BA52-344AD0A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CUSTOMER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AC756-6F13-4AEE-818E-9EBF96E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Use visibility to support a stronger safety culture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167C9-3A48-4700-993A-F12C3B9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54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2424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D1FC3-61AE-4812-89CA-440F6C8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2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Awareness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33C69-1D58-4A70-B8F2-188B4296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45E6E-4B01-49C0-85EC-184E67A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92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6E6"/>
                </a:solidFill>
              </a:defRPr>
            </a:pPr>
            <a:r>
              <a:rPr sz="1350" b="0">
                <a:solidFill>
                  <a:srgbClr val="E6E6E6"/>
                </a:solidFill>
              </a:rPr>
              <a:t>Give managers a clearer view of supported events across connected assets.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573A2-796C-4F50-9565-9FC5185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09750"/>
            <a:ext cx="3454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95BAE-C9E0-46D6-A092-8DD111EF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095500"/>
            <a:ext cx="292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Accountability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E594C-9A8F-4F2C-ACF2-9D5407A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8765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E1E73-4BC2-4553-96B3-E22AE301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90875"/>
            <a:ext cx="292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Create a consistent record that supports timely, fact-based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0A223-B620-4EE2-9FE8-3FAC5539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809750"/>
            <a:ext cx="3454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06E8A-2328-4123-8D59-F3FB895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095500"/>
            <a:ext cx="292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Continuous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4FBD6-E910-4AA0-A7FB-E93BFC9B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8765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A56A5-CE74-4965-82DB-5FE2580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190875"/>
            <a:ext cx="292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Use recurring patterns to prioritize training and reinforce safer behaviors.</a:t>
            </a:r>
          </a:p>
        </p:txBody>
      </p:sp>
    </p:spTree>
    <p:extLst>
      <p:ext uri="{BB962C8B-B14F-4D97-AF65-F5344CB8AC3E}">
        <p14:creationId xmlns:p14="http://schemas.microsoft.com/office/powerpoint/2010/main" val="345820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0E325-656E-4CC9-8E26-46953414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EF69-2677-4ADB-89A9-69311EF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C7C7"/>
                </a:solidFill>
              </a:defRPr>
            </a:pPr>
            <a:r>
              <a:rPr sz="1050" b="1">
                <a:solidFill>
                  <a:srgbClr val="C7C7C7"/>
                </a:solidFill>
              </a:rPr>
              <a:t>RECOMMENDED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F498F-2455-434D-801D-682F96FB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Start with the risks you most want to understand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A939A-1F1B-4DE5-89C1-7907DD6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866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9D9"/>
                </a:solidFill>
              </a:defRPr>
            </a:pPr>
            <a:r>
              <a:rPr sz="1725" b="0">
                <a:solidFill>
                  <a:srgbClr val="D9D9D9"/>
                </a:solidFill>
              </a:rPr>
              <a:t>Identify the machines, technologies, and safety behaviors that matter most. Site Services can help confirm compatibility and build a focused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11031-FFEA-4B58-AD63-9E14A2E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D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5D2B8-341D-413A-B81B-24602450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Select a pilot group of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B39DF-B2F8-469E-B453-89F53A69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388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DBD"/>
                </a:solidFill>
              </a:defRPr>
            </a:pPr>
            <a:r>
              <a:rPr sz="900" b="0">
                <a:solidFill>
                  <a:srgbClr val="BDBDBD"/>
                </a:solidFill>
              </a:rPr>
              <a:t>VisionLink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634B7-CA2E-4569-AFF4-39A2244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DBD"/>
                </a:solidFill>
              </a:defRPr>
            </a:pPr>
            <a:r>
              <a:rPr sz="900" b="1">
                <a:solidFill>
                  <a:srgbClr val="BDBDB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5003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2026-09-03T13:35:45.8960000Z</dcterms:created>
  <dcterms:modified xsi:type="dcterms:W3CDTF">2026-09-03T13:35:45.8960000Z</dcterms:modified>
</coreProperties>
</file>