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58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Open with the customer outcome: safer work, clearer visibility, and a practical path to adoption.</a:t>
            </a:r>
          </a:p>
          <a:p>
            <a:endParaRPr/>
          </a:p>
          <a:p>
            <a:r>
              <a:t>[Sources]</a:t>
            </a:r>
          </a:p>
          <a:p>
            <a:r>
              <a:t>- https://www.cat.com/en_US/products/new/technology/detect.html</a:t>
            </a:r>
          </a:p>
          <a:p>
            <a:r>
              <a:t>- https://www.cat.com/en_US/products/new/technology/detect/detect/117380.html</a:t>
            </a:r>
          </a:p>
          <a:p>
            <a:r>
              <a:t>- https://www.cat.com/en_US/products/new/technology/detect/detect/104340.html</a:t>
            </a:r>
          </a:p>
          <a:p>
            <a:r>
              <a:t>- https://www.cat.com/en_US/products/new/technology/detect/detect/125060.html</a:t>
            </a:r>
          </a:p>
          <a:p>
            <a:r>
              <a:t>- https://www.cat.com/en_US/products/new/attachments/technology-kits/technology-kits/113020.html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https://www.cat.com/en_US/products/new/technology/detect.html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https://www.cat.com/en_US/products/new/technology/detect/detect/117380.html</a:t>
            </a:r>
          </a:p>
          <a:p>
            <a:r>
              <a:t>- https://www.cat.com/en_US/products/new/technology/detect/detect/104340.html</a:t>
            </a:r>
          </a:p>
          <a:p>
            <a:r>
              <a:t>- https://www.cat.com/en_US/products/new/technology/detect/detect/128121.html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https://www.cat.com/en_US/products/new/attachments/technology-kits/technology-kits/113020.html</a:t>
            </a:r>
          </a:p>
          <a:p>
            <a:r>
              <a:t>- https://www.cat.com/en_US/products/new/technology/detect/detect/125060.html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https://www.cat.com/en_US/products/new/technology/detect.html</a:t>
            </a:r>
          </a:p>
          <a:p>
            <a:r>
              <a:t>- https://www.cat.com/en_US/products/new/technology/detect/detect/117380.html</a:t>
            </a:r>
          </a:p>
          <a:p>
            <a:r>
              <a:t>- https://www.cat.com/en_US/products/new/technology/detect/detect/125060.html</a:t>
            </a:r>
          </a:p>
          <a:p>
            <a:r>
              <a:t>- https://www.cat.com/en_US/products/new/attachments/technology-kits/technology-kits/113020.html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https://www.cat.com/en_US/products/new/technology/detect.html</a:t>
            </a:r>
          </a:p>
          <a:p>
            <a:r>
              <a:t>- https://www.cat.com/en_US/products/new/technology/detect/detect/117380.html</a:t>
            </a:r>
          </a:p>
          <a:p>
            <a:r>
              <a:t>- https://www.cat.com/en_US/products/new/technology/detect/detect/104340.html</a:t>
            </a:r>
          </a:p>
          <a:p>
            <a:r>
              <a:t>- https://www.cat.com/en_US/products/new/technology/detect/detect/125060.html</a:t>
            </a:r>
          </a:p>
          <a:p>
            <a:r>
              <a:t>- https://www.cat.com/en_US/products/new/attachments/technology-kits/technology-kits/113020.html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A8AB569-82AB-431D-8578-499AE971B3A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FCD1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04BD027-1C7E-4A76-A85C-229FE1BAC16E}"/>
              </a:ext>
            </a:extLst>
          </p:cNvPr>
          <p:cNvSpPr>
            <a:spLocks noGrp="1"/>
          </p:cNvSpPr>
          <p:nvPr/>
        </p:nvSpPr>
        <p:spPr>
          <a:xfrm>
            <a:off x="704850" y="647700"/>
            <a:ext cx="3810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>
                <a:solidFill>
                  <a:srgbClr val="61656B"/>
                </a:solidFill>
              </a:defRPr>
            </a:pPr>
            <a:r>
              <a:rPr sz="1125" b="1">
                <a:solidFill>
                  <a:srgbClr val="61656B"/>
                </a:solidFill>
              </a:rPr>
              <a:t>CUSTOMER OVERVIEW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F37B4F2-8FFF-488F-AA92-3B3BAEC72B58}"/>
              </a:ext>
            </a:extLst>
          </p:cNvPr>
          <p:cNvSpPr>
            <a:spLocks noGrp="1"/>
          </p:cNvSpPr>
          <p:nvPr/>
        </p:nvSpPr>
        <p:spPr>
          <a:xfrm>
            <a:off x="704850" y="2000250"/>
            <a:ext cx="93345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4350" b="1">
                <a:solidFill>
                  <a:srgbClr val="111111"/>
                </a:solidFill>
              </a:defRPr>
            </a:pPr>
            <a:r>
              <a:rPr sz="4350" b="1">
                <a:solidFill>
                  <a:srgbClr val="111111"/>
                </a:solidFill>
              </a:rPr>
              <a:t>Help operators see risk sooner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3710591-4E2B-4C5C-A895-725FE2748284}"/>
              </a:ext>
            </a:extLst>
          </p:cNvPr>
          <p:cNvSpPr>
            <a:spLocks noGrp="1"/>
          </p:cNvSpPr>
          <p:nvPr/>
        </p:nvSpPr>
        <p:spPr>
          <a:xfrm>
            <a:off x="742950" y="3238500"/>
            <a:ext cx="8763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0">
                <a:solidFill>
                  <a:srgbClr val="61656B"/>
                </a:solidFill>
              </a:defRPr>
            </a:pPr>
            <a:r>
              <a:rPr sz="1800" b="0">
                <a:solidFill>
                  <a:srgbClr val="61656B"/>
                </a:solidFill>
              </a:rPr>
              <a:t>A high-level overview of the Cat Detect safety technology family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60B0447-2512-4338-A215-6DCF5098EF94}"/>
              </a:ext>
            </a:extLst>
          </p:cNvPr>
          <p:cNvSpPr>
            <a:spLocks noGrp="1"/>
          </p:cNvSpPr>
          <p:nvPr/>
        </p:nvSpPr>
        <p:spPr>
          <a:xfrm>
            <a:off x="742950" y="4133850"/>
            <a:ext cx="1809750" cy="76200"/>
          </a:xfrm>
          <a:prstGeom prst="rect">
            <a:avLst/>
          </a:prstGeom>
          <a:solidFill>
            <a:srgbClr val="FFCD1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A6FD334-AAA4-4A2D-A063-973F346118D3}"/>
              </a:ext>
            </a:extLst>
          </p:cNvPr>
          <p:cNvSpPr>
            <a:spLocks noGrp="1"/>
          </p:cNvSpPr>
          <p:nvPr/>
        </p:nvSpPr>
        <p:spPr>
          <a:xfrm>
            <a:off x="742950" y="4419600"/>
            <a:ext cx="457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Carter Machinery Site Services</a:t>
            </a:r>
          </a:p>
        </p:txBody>
      </p:sp>
    </p:spTree>
    <p:extLst>
      <p:ext uri="{BB962C8B-B14F-4D97-AF65-F5344CB8AC3E}">
        <p14:creationId xmlns:p14="http://schemas.microsoft.com/office/powerpoint/2010/main" val="463074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1FD30DFA-18F8-4880-8EB1-DB70D2E3DBBB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108204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3C7CB36-3ABC-46D0-ABC0-63A6B1C51ABE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2095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1">
                <a:solidFill>
                  <a:srgbClr val="61656B"/>
                </a:solidFill>
              </a:defRPr>
            </a:pPr>
            <a:r>
              <a:rPr sz="825" b="1">
                <a:solidFill>
                  <a:srgbClr val="61656B"/>
                </a:solidFill>
              </a:rPr>
              <a:t>SITE SERVICES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317F925-9F3D-4BD8-A559-4D284EA8D77F}"/>
              </a:ext>
            </a:extLst>
          </p:cNvPr>
          <p:cNvSpPr>
            <a:spLocks noGrp="1"/>
          </p:cNvSpPr>
          <p:nvPr/>
        </p:nvSpPr>
        <p:spPr>
          <a:xfrm>
            <a:off x="4619625" y="6477000"/>
            <a:ext cx="2952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25" b="0">
                <a:solidFill>
                  <a:srgbClr val="61656B"/>
                </a:solidFill>
              </a:defRPr>
            </a:pPr>
            <a:r>
              <a:rPr sz="825" b="0">
                <a:solidFill>
                  <a:srgbClr val="61656B"/>
                </a:solidFill>
              </a:rPr>
              <a:t>Cat Detect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F58B162-748C-436A-AD2F-08F0A20A3971}"/>
              </a:ext>
            </a:extLst>
          </p:cNvPr>
          <p:cNvSpPr>
            <a:spLocks noGrp="1"/>
          </p:cNvSpPr>
          <p:nvPr/>
        </p:nvSpPr>
        <p:spPr>
          <a:xfrm>
            <a:off x="10810875" y="6477000"/>
            <a:ext cx="6858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825" b="1">
                <a:solidFill>
                  <a:srgbClr val="61656B"/>
                </a:solidFill>
              </a:defRPr>
            </a:pPr>
            <a:r>
              <a:rPr sz="825" b="1">
                <a:solidFill>
                  <a:srgbClr val="61656B"/>
                </a:solidFill>
              </a:rPr>
              <a:t>02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89606BD-D903-447F-816B-CE34D91BD0E4}"/>
              </a:ext>
            </a:extLst>
          </p:cNvPr>
          <p:cNvSpPr>
            <a:spLocks noGrp="1"/>
          </p:cNvSpPr>
          <p:nvPr/>
        </p:nvSpPr>
        <p:spPr>
          <a:xfrm>
            <a:off x="685800" y="47625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61656B"/>
                </a:solidFill>
              </a:defRPr>
            </a:pPr>
            <a:r>
              <a:rPr sz="1050" b="1">
                <a:solidFill>
                  <a:srgbClr val="61656B"/>
                </a:solidFill>
              </a:rPr>
              <a:t>THE IDEA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EF7FE7B-9D0E-4C5C-86EA-D56F24B61957}"/>
              </a:ext>
            </a:extLst>
          </p:cNvPr>
          <p:cNvSpPr>
            <a:spLocks noGrp="1"/>
          </p:cNvSpPr>
          <p:nvPr/>
        </p:nvSpPr>
        <p:spPr>
          <a:xfrm>
            <a:off x="685800" y="914400"/>
            <a:ext cx="10287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925" b="1">
                <a:solidFill>
                  <a:srgbClr val="111111"/>
                </a:solidFill>
              </a:defRPr>
            </a:pPr>
            <a:r>
              <a:rPr sz="2925" b="1">
                <a:solidFill>
                  <a:srgbClr val="111111"/>
                </a:solidFill>
              </a:rPr>
              <a:t>Different risks require different layers of awareness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A620BED-F2AC-400F-A7AE-86B209C7D938}"/>
              </a:ext>
            </a:extLst>
          </p:cNvPr>
          <p:cNvSpPr>
            <a:spLocks noGrp="1"/>
          </p:cNvSpPr>
          <p:nvPr/>
        </p:nvSpPr>
        <p:spPr>
          <a:xfrm>
            <a:off x="685800" y="1962150"/>
            <a:ext cx="1238250" cy="66675"/>
          </a:xfrm>
          <a:prstGeom prst="rect">
            <a:avLst/>
          </a:prstGeom>
          <a:solidFill>
            <a:srgbClr val="FFCD1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B14D49B-3A63-479F-9C2F-991B0CDE22A5}"/>
              </a:ext>
            </a:extLst>
          </p:cNvPr>
          <p:cNvSpPr>
            <a:spLocks noGrp="1"/>
          </p:cNvSpPr>
          <p:nvPr/>
        </p:nvSpPr>
        <p:spPr>
          <a:xfrm>
            <a:off x="685800" y="2457450"/>
            <a:ext cx="676275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250" b="1">
                <a:solidFill>
                  <a:srgbClr val="111111"/>
                </a:solidFill>
              </a:defRPr>
            </a:pPr>
            <a:r>
              <a:rPr sz="2250" b="1">
                <a:solidFill>
                  <a:srgbClr val="111111"/>
                </a:solidFill>
              </a:rPr>
              <a:t>Cat Detect uses cameras, sensors, alerts, and connected data to help address hazards around the machine and inside the cab.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DBEEABD-C174-4913-AD62-640F5DAC5D5F}"/>
              </a:ext>
            </a:extLst>
          </p:cNvPr>
          <p:cNvSpPr>
            <a:spLocks noGrp="1"/>
          </p:cNvSpPr>
          <p:nvPr/>
        </p:nvSpPr>
        <p:spPr>
          <a:xfrm>
            <a:off x="8143875" y="2152650"/>
            <a:ext cx="3333750" cy="2952750"/>
          </a:xfrm>
          <a:prstGeom prst="rect">
            <a:avLst/>
          </a:prstGeom>
          <a:solidFill>
            <a:srgbClr val="24242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2DF6235-3E57-4CDB-97DE-48FB397384E4}"/>
              </a:ext>
            </a:extLst>
          </p:cNvPr>
          <p:cNvSpPr>
            <a:spLocks noGrp="1"/>
          </p:cNvSpPr>
          <p:nvPr/>
        </p:nvSpPr>
        <p:spPr>
          <a:xfrm>
            <a:off x="8524875" y="2571750"/>
            <a:ext cx="2571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A family of solutions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34CB4C2-34DD-4D0A-844B-F66C5EADAC8F}"/>
              </a:ext>
            </a:extLst>
          </p:cNvPr>
          <p:cNvSpPr>
            <a:spLocks noGrp="1"/>
          </p:cNvSpPr>
          <p:nvPr/>
        </p:nvSpPr>
        <p:spPr>
          <a:xfrm>
            <a:off x="8524875" y="3333750"/>
            <a:ext cx="2571750" cy="1219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0">
                <a:solidFill>
                  <a:srgbClr val="E6E6E6"/>
                </a:solidFill>
              </a:defRPr>
            </a:pPr>
            <a:r>
              <a:rPr sz="1425" b="0">
                <a:solidFill>
                  <a:srgbClr val="E6E6E6"/>
                </a:solidFill>
              </a:rPr>
              <a:t>Choose the capability that fits the jobsite risk, machine type, and operating environment.</a:t>
            </a:r>
          </a:p>
        </p:txBody>
      </p:sp>
    </p:spTree>
    <p:extLst>
      <p:ext uri="{BB962C8B-B14F-4D97-AF65-F5344CB8AC3E}">
        <p14:creationId xmlns:p14="http://schemas.microsoft.com/office/powerpoint/2010/main" val="5694774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ABFEDC63-C716-4D1A-B9C8-6253F4586DBE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108204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D25493F-A895-4749-806A-FD29919B83E7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2095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1">
                <a:solidFill>
                  <a:srgbClr val="61656B"/>
                </a:solidFill>
              </a:defRPr>
            </a:pPr>
            <a:r>
              <a:rPr sz="825" b="1">
                <a:solidFill>
                  <a:srgbClr val="61656B"/>
                </a:solidFill>
              </a:rPr>
              <a:t>SITE SERVICES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F50AB7F-0164-4E54-8B2D-B7B9B5BFA090}"/>
              </a:ext>
            </a:extLst>
          </p:cNvPr>
          <p:cNvSpPr>
            <a:spLocks noGrp="1"/>
          </p:cNvSpPr>
          <p:nvPr/>
        </p:nvSpPr>
        <p:spPr>
          <a:xfrm>
            <a:off x="4619625" y="6477000"/>
            <a:ext cx="2952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25" b="0">
                <a:solidFill>
                  <a:srgbClr val="61656B"/>
                </a:solidFill>
              </a:defRPr>
            </a:pPr>
            <a:r>
              <a:rPr sz="825" b="0">
                <a:solidFill>
                  <a:srgbClr val="61656B"/>
                </a:solidFill>
              </a:rPr>
              <a:t>Cat Detect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5D2B265-1346-454D-B061-8A300BBD4037}"/>
              </a:ext>
            </a:extLst>
          </p:cNvPr>
          <p:cNvSpPr>
            <a:spLocks noGrp="1"/>
          </p:cNvSpPr>
          <p:nvPr/>
        </p:nvSpPr>
        <p:spPr>
          <a:xfrm>
            <a:off x="10810875" y="6477000"/>
            <a:ext cx="6858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825" b="1">
                <a:solidFill>
                  <a:srgbClr val="61656B"/>
                </a:solidFill>
              </a:defRPr>
            </a:pPr>
            <a:r>
              <a:rPr sz="825" b="1">
                <a:solidFill>
                  <a:srgbClr val="61656B"/>
                </a:solidFill>
              </a:rPr>
              <a:t>03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E37DC17-3840-40E6-92E1-AFB26067DBCD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381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61656B"/>
                </a:solidFill>
              </a:defRPr>
            </a:pPr>
            <a:r>
              <a:rPr sz="1050" b="1">
                <a:solidFill>
                  <a:srgbClr val="61656B"/>
                </a:solidFill>
              </a:rPr>
              <a:t>AROUND THE MACHINE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C6AE3D0-FFD1-44A3-89E8-1712DF4096DE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477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775" b="1">
                <a:solidFill>
                  <a:srgbClr val="111111"/>
                </a:solidFill>
              </a:defRPr>
            </a:pPr>
            <a:r>
              <a:rPr sz="2775" b="1">
                <a:solidFill>
                  <a:srgbClr val="111111"/>
                </a:solidFill>
              </a:rPr>
              <a:t>Improve awareness where visibility is limited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C992C4E-C604-47E7-BC51-4AF57FD54878}"/>
              </a:ext>
            </a:extLst>
          </p:cNvPr>
          <p:cNvSpPr>
            <a:spLocks noGrp="1"/>
          </p:cNvSpPr>
          <p:nvPr/>
        </p:nvSpPr>
        <p:spPr>
          <a:xfrm>
            <a:off x="685800" y="1562100"/>
            <a:ext cx="108204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5224762-91F0-4974-A83F-D8BBB813A0D3}"/>
              </a:ext>
            </a:extLst>
          </p:cNvPr>
          <p:cNvSpPr>
            <a:spLocks noGrp="1"/>
          </p:cNvSpPr>
          <p:nvPr/>
        </p:nvSpPr>
        <p:spPr>
          <a:xfrm>
            <a:off x="685800" y="1952625"/>
            <a:ext cx="66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61656B"/>
                </a:solidFill>
              </a:defRPr>
            </a:pPr>
            <a:r>
              <a:rPr sz="1350" b="1">
                <a:solidFill>
                  <a:srgbClr val="61656B"/>
                </a:solidFill>
              </a:rPr>
              <a:t>01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D3A0F8C-7806-45DA-B780-ABE278AF5A37}"/>
              </a:ext>
            </a:extLst>
          </p:cNvPr>
          <p:cNvSpPr>
            <a:spLocks noGrp="1"/>
          </p:cNvSpPr>
          <p:nvPr/>
        </p:nvSpPr>
        <p:spPr>
          <a:xfrm>
            <a:off x="685800" y="2362200"/>
            <a:ext cx="762000" cy="57150"/>
          </a:xfrm>
          <a:prstGeom prst="rect">
            <a:avLst/>
          </a:prstGeom>
          <a:solidFill>
            <a:srgbClr val="FFCD1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5C513DE-5DD1-445E-A68E-9C391296B629}"/>
              </a:ext>
            </a:extLst>
          </p:cNvPr>
          <p:cNvSpPr>
            <a:spLocks noGrp="1"/>
          </p:cNvSpPr>
          <p:nvPr/>
        </p:nvSpPr>
        <p:spPr>
          <a:xfrm>
            <a:off x="685800" y="2647950"/>
            <a:ext cx="3048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People Detection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D4B9CB3-D1E4-4CCF-B858-6A3BB49FC1C3}"/>
              </a:ext>
            </a:extLst>
          </p:cNvPr>
          <p:cNvSpPr>
            <a:spLocks noGrp="1"/>
          </p:cNvSpPr>
          <p:nvPr/>
        </p:nvSpPr>
        <p:spPr>
          <a:xfrm>
            <a:off x="685800" y="3371850"/>
            <a:ext cx="3048000" cy="1571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61656B"/>
                </a:solidFill>
              </a:defRPr>
            </a:pPr>
            <a:r>
              <a:rPr sz="1350" b="0">
                <a:solidFill>
                  <a:srgbClr val="61656B"/>
                </a:solidFill>
              </a:rPr>
              <a:t>Smart-camera technology can identify people in a machine hazard zone and alert the operator.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12AD0EF-10E3-41FF-9B19-5AE19FA284E8}"/>
              </a:ext>
            </a:extLst>
          </p:cNvPr>
          <p:cNvSpPr>
            <a:spLocks noGrp="1"/>
          </p:cNvSpPr>
          <p:nvPr/>
        </p:nvSpPr>
        <p:spPr>
          <a:xfrm>
            <a:off x="4381500" y="1952625"/>
            <a:ext cx="66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61656B"/>
                </a:solidFill>
              </a:defRPr>
            </a:pPr>
            <a:r>
              <a:rPr sz="1350" b="1">
                <a:solidFill>
                  <a:srgbClr val="61656B"/>
                </a:solidFill>
              </a:rPr>
              <a:t>02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C87A99-5FE6-4A38-B556-5700EBEC79D9}"/>
              </a:ext>
            </a:extLst>
          </p:cNvPr>
          <p:cNvSpPr>
            <a:spLocks noGrp="1"/>
          </p:cNvSpPr>
          <p:nvPr/>
        </p:nvSpPr>
        <p:spPr>
          <a:xfrm>
            <a:off x="4381500" y="2362200"/>
            <a:ext cx="762000" cy="57150"/>
          </a:xfrm>
          <a:prstGeom prst="rect">
            <a:avLst/>
          </a:prstGeom>
          <a:solidFill>
            <a:srgbClr val="FFCD1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58F3AF3-B05A-40DE-A76F-DD026FEE1665}"/>
              </a:ext>
            </a:extLst>
          </p:cNvPr>
          <p:cNvSpPr>
            <a:spLocks noGrp="1"/>
          </p:cNvSpPr>
          <p:nvPr/>
        </p:nvSpPr>
        <p:spPr>
          <a:xfrm>
            <a:off x="4381500" y="2647950"/>
            <a:ext cx="3048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Rear Object Detection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DF3AD71-E1C5-4B51-BCD4-872A02B920C6}"/>
              </a:ext>
            </a:extLst>
          </p:cNvPr>
          <p:cNvSpPr>
            <a:spLocks noGrp="1"/>
          </p:cNvSpPr>
          <p:nvPr/>
        </p:nvSpPr>
        <p:spPr>
          <a:xfrm>
            <a:off x="4381500" y="3371850"/>
            <a:ext cx="3048000" cy="1571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61656B"/>
                </a:solidFill>
              </a:defRPr>
            </a:pPr>
            <a:r>
              <a:rPr sz="1350" b="0">
                <a:solidFill>
                  <a:srgbClr val="61656B"/>
                </a:solidFill>
              </a:rPr>
              <a:t>Radar alerts and a camera view help operators understand what is behind a wheel loader.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4C20CD6-C4D5-43CC-A09E-D621D674BDA8}"/>
              </a:ext>
            </a:extLst>
          </p:cNvPr>
          <p:cNvSpPr>
            <a:spLocks noGrp="1"/>
          </p:cNvSpPr>
          <p:nvPr/>
        </p:nvSpPr>
        <p:spPr>
          <a:xfrm>
            <a:off x="8077200" y="1952625"/>
            <a:ext cx="66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61656B"/>
                </a:solidFill>
              </a:defRPr>
            </a:pPr>
            <a:r>
              <a:rPr sz="1350" b="1">
                <a:solidFill>
                  <a:srgbClr val="61656B"/>
                </a:solidFill>
              </a:rPr>
              <a:t>03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1C44DC2-429A-4D95-9895-4CC17C23EAC9}"/>
              </a:ext>
            </a:extLst>
          </p:cNvPr>
          <p:cNvSpPr>
            <a:spLocks noGrp="1"/>
          </p:cNvSpPr>
          <p:nvPr/>
        </p:nvSpPr>
        <p:spPr>
          <a:xfrm>
            <a:off x="8077200" y="2362200"/>
            <a:ext cx="762000" cy="57150"/>
          </a:xfrm>
          <a:prstGeom prst="rect">
            <a:avLst/>
          </a:prstGeom>
          <a:solidFill>
            <a:srgbClr val="FFCD1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8D3F9F1-DB49-4E4A-B7F5-FD57C1599BCE}"/>
              </a:ext>
            </a:extLst>
          </p:cNvPr>
          <p:cNvSpPr>
            <a:spLocks noGrp="1"/>
          </p:cNvSpPr>
          <p:nvPr/>
        </p:nvSpPr>
        <p:spPr>
          <a:xfrm>
            <a:off x="8077200" y="2647950"/>
            <a:ext cx="3048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Collision Mitigation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A55E359-F966-4ED7-B513-800EA4A82DCD}"/>
              </a:ext>
            </a:extLst>
          </p:cNvPr>
          <p:cNvSpPr>
            <a:spLocks noGrp="1"/>
          </p:cNvSpPr>
          <p:nvPr/>
        </p:nvSpPr>
        <p:spPr>
          <a:xfrm>
            <a:off x="8077200" y="3371850"/>
            <a:ext cx="3048000" cy="1571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61656B"/>
                </a:solidFill>
              </a:defRPr>
            </a:pPr>
            <a:r>
              <a:rPr sz="1350" b="0">
                <a:solidFill>
                  <a:srgbClr val="61656B"/>
                </a:solidFill>
              </a:rPr>
              <a:t>Integrated sensing adds escalating warnings and available intervention functions on supported machines.</a:t>
            </a:r>
          </a:p>
        </p:txBody>
      </p:sp>
    </p:spTree>
    <p:extLst>
      <p:ext uri="{BB962C8B-B14F-4D97-AF65-F5344CB8AC3E}">
        <p14:creationId xmlns:p14="http://schemas.microsoft.com/office/powerpoint/2010/main" val="15584588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F0E6E9CD-2CB5-41B0-8B8E-6EA2B5EA514B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108204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B05310-F95E-4A4A-A6FA-B85EAF5A4D41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2095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1">
                <a:solidFill>
                  <a:srgbClr val="61656B"/>
                </a:solidFill>
              </a:defRPr>
            </a:pPr>
            <a:r>
              <a:rPr sz="825" b="1">
                <a:solidFill>
                  <a:srgbClr val="61656B"/>
                </a:solidFill>
              </a:rPr>
              <a:t>SITE SERVICES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3AC67E8-8197-4FEC-A883-D98EAFB05D48}"/>
              </a:ext>
            </a:extLst>
          </p:cNvPr>
          <p:cNvSpPr>
            <a:spLocks noGrp="1"/>
          </p:cNvSpPr>
          <p:nvPr/>
        </p:nvSpPr>
        <p:spPr>
          <a:xfrm>
            <a:off x="4619625" y="6477000"/>
            <a:ext cx="2952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25" b="0">
                <a:solidFill>
                  <a:srgbClr val="61656B"/>
                </a:solidFill>
              </a:defRPr>
            </a:pPr>
            <a:r>
              <a:rPr sz="825" b="0">
                <a:solidFill>
                  <a:srgbClr val="61656B"/>
                </a:solidFill>
              </a:rPr>
              <a:t>Cat Detect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779082B-4306-4D12-9284-302B0FF6225C}"/>
              </a:ext>
            </a:extLst>
          </p:cNvPr>
          <p:cNvSpPr>
            <a:spLocks noGrp="1"/>
          </p:cNvSpPr>
          <p:nvPr/>
        </p:nvSpPr>
        <p:spPr>
          <a:xfrm>
            <a:off x="10810875" y="6477000"/>
            <a:ext cx="6858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825" b="1">
                <a:solidFill>
                  <a:srgbClr val="61656B"/>
                </a:solidFill>
              </a:defRPr>
            </a:pPr>
            <a:r>
              <a:rPr sz="825" b="1">
                <a:solidFill>
                  <a:srgbClr val="61656B"/>
                </a:solidFill>
              </a:rPr>
              <a:t>04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B4E93B-6D39-420E-B1F0-C30BB6679B3D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381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61656B"/>
                </a:solidFill>
              </a:defRPr>
            </a:pPr>
            <a:r>
              <a:rPr sz="1050" b="1">
                <a:solidFill>
                  <a:srgbClr val="61656B"/>
                </a:solidFill>
              </a:rPr>
              <a:t>INSIDE THE CAB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C661947-E444-4CB5-89CC-53F618E0D4AC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477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775" b="1">
                <a:solidFill>
                  <a:srgbClr val="111111"/>
                </a:solidFill>
              </a:defRPr>
            </a:pPr>
            <a:r>
              <a:rPr sz="2775" b="1">
                <a:solidFill>
                  <a:srgbClr val="111111"/>
                </a:solidFill>
              </a:rPr>
              <a:t>Support safer behavior during every shift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4976C57-FCD9-4EE1-9359-34E45A0F3777}"/>
              </a:ext>
            </a:extLst>
          </p:cNvPr>
          <p:cNvSpPr>
            <a:spLocks noGrp="1"/>
          </p:cNvSpPr>
          <p:nvPr/>
        </p:nvSpPr>
        <p:spPr>
          <a:xfrm>
            <a:off x="685800" y="1562100"/>
            <a:ext cx="108204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B1C9D96-9F43-4D34-BECA-A45085DA6FA5}"/>
              </a:ext>
            </a:extLst>
          </p:cNvPr>
          <p:cNvSpPr>
            <a:spLocks noGrp="1"/>
          </p:cNvSpPr>
          <p:nvPr/>
        </p:nvSpPr>
        <p:spPr>
          <a:xfrm>
            <a:off x="685800" y="1952625"/>
            <a:ext cx="66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61656B"/>
                </a:solidFill>
              </a:defRPr>
            </a:pPr>
            <a:r>
              <a:rPr sz="1350" b="1">
                <a:solidFill>
                  <a:srgbClr val="61656B"/>
                </a:solidFill>
              </a:rPr>
              <a:t>01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73055F4-8BD2-4FDF-B4BE-E126C0F2B0E6}"/>
              </a:ext>
            </a:extLst>
          </p:cNvPr>
          <p:cNvSpPr>
            <a:spLocks noGrp="1"/>
          </p:cNvSpPr>
          <p:nvPr/>
        </p:nvSpPr>
        <p:spPr>
          <a:xfrm>
            <a:off x="685800" y="2362200"/>
            <a:ext cx="762000" cy="57150"/>
          </a:xfrm>
          <a:prstGeom prst="rect">
            <a:avLst/>
          </a:prstGeom>
          <a:solidFill>
            <a:srgbClr val="FFCD1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C0EDA3-43CC-4D1C-9EC8-3B5C13B7CEB6}"/>
              </a:ext>
            </a:extLst>
          </p:cNvPr>
          <p:cNvSpPr>
            <a:spLocks noGrp="1"/>
          </p:cNvSpPr>
          <p:nvPr/>
        </p:nvSpPr>
        <p:spPr>
          <a:xfrm>
            <a:off x="685800" y="2647950"/>
            <a:ext cx="3048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Seat Belt Reminder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101F8B6-BFCA-4D13-81AD-46F467C149B4}"/>
              </a:ext>
            </a:extLst>
          </p:cNvPr>
          <p:cNvSpPr>
            <a:spLocks noGrp="1"/>
          </p:cNvSpPr>
          <p:nvPr/>
        </p:nvSpPr>
        <p:spPr>
          <a:xfrm>
            <a:off x="685800" y="3371850"/>
            <a:ext cx="3048000" cy="1571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61656B"/>
                </a:solidFill>
              </a:defRPr>
            </a:pPr>
            <a:r>
              <a:rPr sz="1350" b="0">
                <a:solidFill>
                  <a:srgbClr val="61656B"/>
                </a:solidFill>
              </a:rPr>
              <a:t>In-cab prompts encourage the operator to buckle up before and during machine operation.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0D3FB1A-7487-4A73-B3C0-8CCD0738DF39}"/>
              </a:ext>
            </a:extLst>
          </p:cNvPr>
          <p:cNvSpPr>
            <a:spLocks noGrp="1"/>
          </p:cNvSpPr>
          <p:nvPr/>
        </p:nvSpPr>
        <p:spPr>
          <a:xfrm>
            <a:off x="4381500" y="1952625"/>
            <a:ext cx="66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61656B"/>
                </a:solidFill>
              </a:defRPr>
            </a:pPr>
            <a:r>
              <a:rPr sz="1350" b="1">
                <a:solidFill>
                  <a:srgbClr val="61656B"/>
                </a:solidFill>
              </a:rPr>
              <a:t>02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D69C732-EA97-40C2-9839-608EA03D9E32}"/>
              </a:ext>
            </a:extLst>
          </p:cNvPr>
          <p:cNvSpPr>
            <a:spLocks noGrp="1"/>
          </p:cNvSpPr>
          <p:nvPr/>
        </p:nvSpPr>
        <p:spPr>
          <a:xfrm>
            <a:off x="4381500" y="2362200"/>
            <a:ext cx="762000" cy="57150"/>
          </a:xfrm>
          <a:prstGeom prst="rect">
            <a:avLst/>
          </a:prstGeom>
          <a:solidFill>
            <a:srgbClr val="FFCD1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028874F-9B8D-4042-B832-0E0EA26F5F22}"/>
              </a:ext>
            </a:extLst>
          </p:cNvPr>
          <p:cNvSpPr>
            <a:spLocks noGrp="1"/>
          </p:cNvSpPr>
          <p:nvPr/>
        </p:nvSpPr>
        <p:spPr>
          <a:xfrm>
            <a:off x="4381500" y="2647950"/>
            <a:ext cx="3048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Driver Safety System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C5F614F-17ED-4B7B-ADC9-4B6635657124}"/>
              </a:ext>
            </a:extLst>
          </p:cNvPr>
          <p:cNvSpPr>
            <a:spLocks noGrp="1"/>
          </p:cNvSpPr>
          <p:nvPr/>
        </p:nvSpPr>
        <p:spPr>
          <a:xfrm>
            <a:off x="4381500" y="3371850"/>
            <a:ext cx="3048000" cy="1571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61656B"/>
                </a:solidFill>
              </a:defRPr>
            </a:pPr>
            <a:r>
              <a:rPr sz="1350" b="0">
                <a:solidFill>
                  <a:srgbClr val="61656B"/>
                </a:solidFill>
              </a:rPr>
              <a:t>Non-intrusive monitoring can identify signs of fatigue or distraction and alert the operator.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6CD9378-8DB1-4390-BBA9-84D7C38B0B7B}"/>
              </a:ext>
            </a:extLst>
          </p:cNvPr>
          <p:cNvSpPr>
            <a:spLocks noGrp="1"/>
          </p:cNvSpPr>
          <p:nvPr/>
        </p:nvSpPr>
        <p:spPr>
          <a:xfrm>
            <a:off x="8077200" y="1952625"/>
            <a:ext cx="66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61656B"/>
                </a:solidFill>
              </a:defRPr>
            </a:pPr>
            <a:r>
              <a:rPr sz="1350" b="1">
                <a:solidFill>
                  <a:srgbClr val="61656B"/>
                </a:solidFill>
              </a:rPr>
              <a:t>03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0BBB944-0C35-4008-A2DB-8B598D83D122}"/>
              </a:ext>
            </a:extLst>
          </p:cNvPr>
          <p:cNvSpPr>
            <a:spLocks noGrp="1"/>
          </p:cNvSpPr>
          <p:nvPr/>
        </p:nvSpPr>
        <p:spPr>
          <a:xfrm>
            <a:off x="8077200" y="2362200"/>
            <a:ext cx="762000" cy="57150"/>
          </a:xfrm>
          <a:prstGeom prst="rect">
            <a:avLst/>
          </a:prstGeom>
          <a:solidFill>
            <a:srgbClr val="FFCD1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BD01D4E-163F-4778-AAAE-61F18180BBE3}"/>
              </a:ext>
            </a:extLst>
          </p:cNvPr>
          <p:cNvSpPr>
            <a:spLocks noGrp="1"/>
          </p:cNvSpPr>
          <p:nvPr/>
        </p:nvSpPr>
        <p:spPr>
          <a:xfrm>
            <a:off x="8077200" y="2647950"/>
            <a:ext cx="3048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Event visibility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0BD4587-0896-43B7-A2D3-0F49F8D64818}"/>
              </a:ext>
            </a:extLst>
          </p:cNvPr>
          <p:cNvSpPr>
            <a:spLocks noGrp="1"/>
          </p:cNvSpPr>
          <p:nvPr/>
        </p:nvSpPr>
        <p:spPr>
          <a:xfrm>
            <a:off x="8077200" y="3371850"/>
            <a:ext cx="3048000" cy="1571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61656B"/>
                </a:solidFill>
              </a:defRPr>
            </a:pPr>
            <a:r>
              <a:rPr sz="1350" b="0">
                <a:solidFill>
                  <a:srgbClr val="61656B"/>
                </a:solidFill>
              </a:rPr>
              <a:t>Supported connected solutions can give managers a record for coaching and follow-up.</a:t>
            </a:r>
          </a:p>
        </p:txBody>
      </p:sp>
    </p:spTree>
    <p:extLst>
      <p:ext uri="{BB962C8B-B14F-4D97-AF65-F5344CB8AC3E}">
        <p14:creationId xmlns:p14="http://schemas.microsoft.com/office/powerpoint/2010/main" val="7666829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4F259F17-781F-44F4-8C9B-6E297F1330E3}"/>
              </a:ext>
            </a:extLst>
          </p:cNvPr>
          <p:cNvSpPr>
            <a:spLocks noGrp="1"/>
          </p:cNvSpPr>
          <p:nvPr/>
        </p:nvSpPr>
        <p:spPr>
          <a:xfrm>
            <a:off x="685800" y="6419850"/>
            <a:ext cx="10820400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08D7DD3-75CD-422E-AACF-13FCA239F014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2095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1">
                <a:solidFill>
                  <a:srgbClr val="61656B"/>
                </a:solidFill>
              </a:defRPr>
            </a:pPr>
            <a:r>
              <a:rPr sz="825" b="1">
                <a:solidFill>
                  <a:srgbClr val="61656B"/>
                </a:solidFill>
              </a:rPr>
              <a:t>SITE SERVICES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EF472EB-18D7-4717-8701-8A62FA561695}"/>
              </a:ext>
            </a:extLst>
          </p:cNvPr>
          <p:cNvSpPr>
            <a:spLocks noGrp="1"/>
          </p:cNvSpPr>
          <p:nvPr/>
        </p:nvSpPr>
        <p:spPr>
          <a:xfrm>
            <a:off x="4619625" y="6477000"/>
            <a:ext cx="2952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825" b="0">
                <a:solidFill>
                  <a:srgbClr val="61656B"/>
                </a:solidFill>
              </a:defRPr>
            </a:pPr>
            <a:r>
              <a:rPr sz="825" b="0">
                <a:solidFill>
                  <a:srgbClr val="61656B"/>
                </a:solidFill>
              </a:rPr>
              <a:t>Cat Detect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2FC98E3-BAF3-4707-A63B-721D65FC5F08}"/>
              </a:ext>
            </a:extLst>
          </p:cNvPr>
          <p:cNvSpPr>
            <a:spLocks noGrp="1"/>
          </p:cNvSpPr>
          <p:nvPr/>
        </p:nvSpPr>
        <p:spPr>
          <a:xfrm>
            <a:off x="10810875" y="6477000"/>
            <a:ext cx="6858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825" b="1">
                <a:solidFill>
                  <a:srgbClr val="61656B"/>
                </a:solidFill>
              </a:defRPr>
            </a:pPr>
            <a:r>
              <a:rPr sz="825" b="1">
                <a:solidFill>
                  <a:srgbClr val="61656B"/>
                </a:solidFill>
              </a:rPr>
              <a:t>05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8295A6D-598B-46F0-94EB-EDE3BCF96A8F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381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61656B"/>
                </a:solidFill>
              </a:defRPr>
            </a:pPr>
            <a:r>
              <a:rPr sz="1050" b="1">
                <a:solidFill>
                  <a:srgbClr val="61656B"/>
                </a:solidFill>
              </a:rPr>
              <a:t>A LAYERED APPROACH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EB8AC21-6A22-4836-A0A8-D978324C3B18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10477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775" b="1">
                <a:solidFill>
                  <a:srgbClr val="111111"/>
                </a:solidFill>
              </a:defRPr>
            </a:pPr>
            <a:r>
              <a:rPr sz="2775" b="1">
                <a:solidFill>
                  <a:srgbClr val="111111"/>
                </a:solidFill>
              </a:rPr>
              <a:t>Technology supports the people and processes already in place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5C19128-6297-437D-84FC-0AD8E57DE67D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857250" cy="685800"/>
          </a:xfrm>
          <a:prstGeom prst="rect">
            <a:avLst/>
          </a:prstGeom>
          <a:solidFill>
            <a:srgbClr val="FFCD1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A1DC947-656A-4812-851D-621866E2293C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857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01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7F85F71-5D66-4CC0-9A7D-6083194349BA}"/>
              </a:ext>
            </a:extLst>
          </p:cNvPr>
          <p:cNvSpPr>
            <a:spLocks noGrp="1"/>
          </p:cNvSpPr>
          <p:nvPr/>
        </p:nvSpPr>
        <p:spPr>
          <a:xfrm>
            <a:off x="1857375" y="1809750"/>
            <a:ext cx="2857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Identify risk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2ABD5B4-CD31-4BA7-8DDC-44F43C67AA6D}"/>
              </a:ext>
            </a:extLst>
          </p:cNvPr>
          <p:cNvSpPr>
            <a:spLocks noGrp="1"/>
          </p:cNvSpPr>
          <p:nvPr/>
        </p:nvSpPr>
        <p:spPr>
          <a:xfrm>
            <a:off x="4953000" y="1809750"/>
            <a:ext cx="6238875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61656B"/>
                </a:solidFill>
              </a:defRPr>
            </a:pPr>
            <a:r>
              <a:rPr sz="1350" b="0">
                <a:solidFill>
                  <a:srgbClr val="61656B"/>
                </a:solidFill>
              </a:rPr>
              <a:t>Start with the exposures most relevant to the site and application.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8996CD4-9CE4-4E3B-9BD5-BCC0F95B4722}"/>
              </a:ext>
            </a:extLst>
          </p:cNvPr>
          <p:cNvSpPr>
            <a:spLocks noGrp="1"/>
          </p:cNvSpPr>
          <p:nvPr/>
        </p:nvSpPr>
        <p:spPr>
          <a:xfrm>
            <a:off x="685800" y="2952750"/>
            <a:ext cx="857250" cy="685800"/>
          </a:xfrm>
          <a:prstGeom prst="rect">
            <a:avLst/>
          </a:prstGeom>
          <a:solidFill>
            <a:srgbClr val="24242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6167D9-C9CD-458E-BE55-EFEC57F8B8EC}"/>
              </a:ext>
            </a:extLst>
          </p:cNvPr>
          <p:cNvSpPr>
            <a:spLocks noGrp="1"/>
          </p:cNvSpPr>
          <p:nvPr/>
        </p:nvSpPr>
        <p:spPr>
          <a:xfrm>
            <a:off x="685800" y="2952750"/>
            <a:ext cx="857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35D456B-B1E1-4519-A591-1CF602BA37CC}"/>
              </a:ext>
            </a:extLst>
          </p:cNvPr>
          <p:cNvSpPr>
            <a:spLocks noGrp="1"/>
          </p:cNvSpPr>
          <p:nvPr/>
        </p:nvSpPr>
        <p:spPr>
          <a:xfrm>
            <a:off x="1857375" y="2952750"/>
            <a:ext cx="2857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Select a solution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D055DFA-9B56-465D-A345-55E38D0CEB19}"/>
              </a:ext>
            </a:extLst>
          </p:cNvPr>
          <p:cNvSpPr>
            <a:spLocks noGrp="1"/>
          </p:cNvSpPr>
          <p:nvPr/>
        </p:nvSpPr>
        <p:spPr>
          <a:xfrm>
            <a:off x="4953000" y="2952750"/>
            <a:ext cx="6238875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61656B"/>
                </a:solidFill>
              </a:defRPr>
            </a:pPr>
            <a:r>
              <a:rPr sz="1350" b="0">
                <a:solidFill>
                  <a:srgbClr val="61656B"/>
                </a:solidFill>
              </a:rPr>
              <a:t>Match Detect capabilities to compatible assets and operating conditions.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B8E9BE-6435-49F2-9A4C-12647A9410F5}"/>
              </a:ext>
            </a:extLst>
          </p:cNvPr>
          <p:cNvSpPr>
            <a:spLocks noGrp="1"/>
          </p:cNvSpPr>
          <p:nvPr/>
        </p:nvSpPr>
        <p:spPr>
          <a:xfrm>
            <a:off x="685800" y="4095750"/>
            <a:ext cx="857250" cy="685800"/>
          </a:xfrm>
          <a:prstGeom prst="rect">
            <a:avLst/>
          </a:prstGeom>
          <a:solidFill>
            <a:srgbClr val="24242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8A23FAF-E0A5-4EBA-86FE-E4BEDED47531}"/>
              </a:ext>
            </a:extLst>
          </p:cNvPr>
          <p:cNvSpPr>
            <a:spLocks noGrp="1"/>
          </p:cNvSpPr>
          <p:nvPr/>
        </p:nvSpPr>
        <p:spPr>
          <a:xfrm>
            <a:off x="685800" y="4095750"/>
            <a:ext cx="857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6A21013-3063-4903-9C1B-00011E26AA17}"/>
              </a:ext>
            </a:extLst>
          </p:cNvPr>
          <p:cNvSpPr>
            <a:spLocks noGrp="1"/>
          </p:cNvSpPr>
          <p:nvPr/>
        </p:nvSpPr>
        <p:spPr>
          <a:xfrm>
            <a:off x="1857375" y="4095750"/>
            <a:ext cx="2857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Alert the operator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F617F69-732A-45B1-B6CA-5F96E21D2FA6}"/>
              </a:ext>
            </a:extLst>
          </p:cNvPr>
          <p:cNvSpPr>
            <a:spLocks noGrp="1"/>
          </p:cNvSpPr>
          <p:nvPr/>
        </p:nvSpPr>
        <p:spPr>
          <a:xfrm>
            <a:off x="4953000" y="4095750"/>
            <a:ext cx="6238875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61656B"/>
                </a:solidFill>
              </a:defRPr>
            </a:pPr>
            <a:r>
              <a:rPr sz="1350" b="0">
                <a:solidFill>
                  <a:srgbClr val="61656B"/>
                </a:solidFill>
              </a:rPr>
              <a:t>Use in-cab feedback to increase awareness at the moment of risk.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7373596-061A-43E3-854B-D727083D616A}"/>
              </a:ext>
            </a:extLst>
          </p:cNvPr>
          <p:cNvSpPr>
            <a:spLocks noGrp="1"/>
          </p:cNvSpPr>
          <p:nvPr/>
        </p:nvSpPr>
        <p:spPr>
          <a:xfrm>
            <a:off x="685800" y="5238750"/>
            <a:ext cx="857250" cy="685800"/>
          </a:xfrm>
          <a:prstGeom prst="rect">
            <a:avLst/>
          </a:prstGeom>
          <a:solidFill>
            <a:srgbClr val="242424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7651505-4628-4DE7-B566-D73878B00308}"/>
              </a:ext>
            </a:extLst>
          </p:cNvPr>
          <p:cNvSpPr>
            <a:spLocks noGrp="1"/>
          </p:cNvSpPr>
          <p:nvPr/>
        </p:nvSpPr>
        <p:spPr>
          <a:xfrm>
            <a:off x="685800" y="5238750"/>
            <a:ext cx="857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93BDA23-1B6B-408E-B573-3A15AF43B636}"/>
              </a:ext>
            </a:extLst>
          </p:cNvPr>
          <p:cNvSpPr>
            <a:spLocks noGrp="1"/>
          </p:cNvSpPr>
          <p:nvPr/>
        </p:nvSpPr>
        <p:spPr>
          <a:xfrm>
            <a:off x="1857375" y="5238750"/>
            <a:ext cx="2857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Learn and improve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FAA35B2-FE29-4B2F-8B8F-46C5BB73097A}"/>
              </a:ext>
            </a:extLst>
          </p:cNvPr>
          <p:cNvSpPr>
            <a:spLocks noGrp="1"/>
          </p:cNvSpPr>
          <p:nvPr/>
        </p:nvSpPr>
        <p:spPr>
          <a:xfrm>
            <a:off x="4953000" y="5238750"/>
            <a:ext cx="6238875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61656B"/>
                </a:solidFill>
              </a:defRPr>
            </a:pPr>
            <a:r>
              <a:rPr sz="1350" b="0">
                <a:solidFill>
                  <a:srgbClr val="61656B"/>
                </a:solidFill>
              </a:rPr>
              <a:t>Review supported events to reinforce training and site practices.</a:t>
            </a:r>
          </a:p>
        </p:txBody>
      </p:sp>
    </p:spTree>
    <p:extLst>
      <p:ext uri="{BB962C8B-B14F-4D97-AF65-F5344CB8AC3E}">
        <p14:creationId xmlns:p14="http://schemas.microsoft.com/office/powerpoint/2010/main" val="921755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24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F0C8A78-D68F-4ADD-8ABA-FDD066357AF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FCD1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7984AEC-6411-444F-AC7A-6D287DE5A3E2}"/>
              </a:ext>
            </a:extLst>
          </p:cNvPr>
          <p:cNvSpPr>
            <a:spLocks noGrp="1"/>
          </p:cNvSpPr>
          <p:nvPr/>
        </p:nvSpPr>
        <p:spPr>
          <a:xfrm>
            <a:off x="704850" y="666750"/>
            <a:ext cx="361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C7C7C7"/>
                </a:solidFill>
              </a:defRPr>
            </a:pPr>
            <a:r>
              <a:rPr sz="1050" b="1">
                <a:solidFill>
                  <a:srgbClr val="C7C7C7"/>
                </a:solidFill>
              </a:rPr>
              <a:t>RECOMMENDED NEXT STEP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E403159-8654-48FE-97A6-9796D2A8E249}"/>
              </a:ext>
            </a:extLst>
          </p:cNvPr>
          <p:cNvSpPr>
            <a:spLocks noGrp="1"/>
          </p:cNvSpPr>
          <p:nvPr/>
        </p:nvSpPr>
        <p:spPr>
          <a:xfrm>
            <a:off x="704850" y="1428750"/>
            <a:ext cx="9906000" cy="1095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Begin with one clearly defined safety challenge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0F1030F-20A5-45E2-9104-D0A506CD56F5}"/>
              </a:ext>
            </a:extLst>
          </p:cNvPr>
          <p:cNvSpPr>
            <a:spLocks noGrp="1"/>
          </p:cNvSpPr>
          <p:nvPr/>
        </p:nvSpPr>
        <p:spPr>
          <a:xfrm>
            <a:off x="742950" y="2857500"/>
            <a:ext cx="86677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725" b="0">
                <a:solidFill>
                  <a:srgbClr val="D9D9D9"/>
                </a:solidFill>
              </a:defRPr>
            </a:pPr>
            <a:r>
              <a:rPr sz="1725" b="0">
                <a:solidFill>
                  <a:srgbClr val="D9D9D9"/>
                </a:solidFill>
              </a:rPr>
              <a:t>A targeted pilot makes it easier to confirm fit, demonstrate value, collect operator feedback, and plan broader adoption.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07EBC6-870A-4EC3-9D83-D7D1DB2D80E8}"/>
              </a:ext>
            </a:extLst>
          </p:cNvPr>
          <p:cNvSpPr>
            <a:spLocks noGrp="1"/>
          </p:cNvSpPr>
          <p:nvPr/>
        </p:nvSpPr>
        <p:spPr>
          <a:xfrm>
            <a:off x="742950" y="4286250"/>
            <a:ext cx="4762500" cy="857250"/>
          </a:xfrm>
          <a:prstGeom prst="rect">
            <a:avLst/>
          </a:prstGeom>
          <a:solidFill>
            <a:srgbClr val="FFCD11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BC50390-7F59-42B7-A341-6F11F81D4E26}"/>
              </a:ext>
            </a:extLst>
          </p:cNvPr>
          <p:cNvSpPr>
            <a:spLocks noGrp="1"/>
          </p:cNvSpPr>
          <p:nvPr/>
        </p:nvSpPr>
        <p:spPr>
          <a:xfrm>
            <a:off x="1000125" y="4286250"/>
            <a:ext cx="4238625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Choose one risk and one pilot fleet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2F8FE4A-7627-4720-9965-EA332B9C89C1}"/>
              </a:ext>
            </a:extLst>
          </p:cNvPr>
          <p:cNvSpPr>
            <a:spLocks noGrp="1"/>
          </p:cNvSpPr>
          <p:nvPr/>
        </p:nvSpPr>
        <p:spPr>
          <a:xfrm>
            <a:off x="742950" y="6238875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0">
                <a:solidFill>
                  <a:srgbClr val="BDBDBD"/>
                </a:solidFill>
              </a:defRPr>
            </a:pPr>
            <a:r>
              <a:rPr sz="900" b="0">
                <a:solidFill>
                  <a:srgbClr val="BDBDBD"/>
                </a:solidFill>
              </a:rPr>
              <a:t>Cat Detect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180AC9F-C61F-470E-AB1F-B2845C6A95C3}"/>
              </a:ext>
            </a:extLst>
          </p:cNvPr>
          <p:cNvSpPr>
            <a:spLocks noGrp="1"/>
          </p:cNvSpPr>
          <p:nvPr/>
        </p:nvSpPr>
        <p:spPr>
          <a:xfrm>
            <a:off x="10668000" y="6238875"/>
            <a:ext cx="8096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>
                <a:solidFill>
                  <a:srgbClr val="BDBDBD"/>
                </a:solidFill>
              </a:defRPr>
            </a:pPr>
            <a:r>
              <a:rPr sz="900" b="1">
                <a:solidFill>
                  <a:srgbClr val="BDBDBD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89632017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890</Words>
  <Application>Microsoft Office PowerPoint</Application>
  <DocSecurity>0</DocSecurity>
  <PresentationFormat>Widescreen</PresentationFormat>
  <Paragraphs>97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8" baseType="lpstr"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Tyler Fisher</cp:lastModifiedBy>
  <cp:revision>1</cp:revision>
  <dcterms:created xsi:type="dcterms:W3CDTF">2026-09-03T13:35:47Z</dcterms:created>
  <dcterms:modified xsi:type="dcterms:W3CDTF">2026-09-03T14:22:45Z</dcterms:modified>
</cp:coreProperties>
</file>