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customer outcome: safer work, clearer visibility, and a practical path to adoption.</a:t>
            </a:r>
          </a:p>
          <a:p>
            <a:endParaRPr/>
          </a:p>
          <a:p>
            <a:r>
              <a:t>[Sources]</a:t>
            </a:r>
          </a:p>
          <a:p>
            <a:r>
              <a:t>- https://www.cat.com/en_US/products/new/technology/command.html</a:t>
            </a:r>
          </a:p>
          <a:p>
            <a:r>
              <a:t>- https://www.cat.com/en_US/by-industry/construction-industry-resources/technology/command.html</a:t>
            </a:r>
          </a:p>
          <a:p>
            <a:r>
              <a:t>- https://www.cat.com/en_US/news/machine-press-releases/cat-command-for-loading-now-available-for-cat-medium-wheel-loaders.html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https://www.cat.com/en_US/products/new/technology/command.html</a:t>
            </a:r>
          </a:p>
          <a:p>
            <a:r>
              <a:t>- https://www.cat.com/en_US/by-industry/construction-industry-resources/technology/command.html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https://www.cat.com/en_US/products/new/technology/command.html</a:t>
            </a:r>
          </a:p>
          <a:p>
            <a:r>
              <a:t>- https://www.cat.com/en_US/by-industry/construction-industry-resources/technology/command.html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https://www.cat.com/en_US/products/new/technology/command.html</a:t>
            </a:r>
          </a:p>
          <a:p>
            <a:r>
              <a:t>- https://www.cat.com/en_US/by-industry/construction-industry-resources/technology/command.html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https://www.cat.com/en_US/by-industry/construction-industry-resources/technology/command.html</a:t>
            </a:r>
          </a:p>
          <a:p>
            <a:r>
              <a:t>- https://www.cat.com/en_US/news/machine-press-releases/cat-command-for-loading-now-available-for-cat-medium-wheel-loaders.html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https://www.cat.com/en_US/products/new/technology/command.html</a:t>
            </a:r>
          </a:p>
          <a:p>
            <a:r>
              <a:t>- https://www.cat.com/en_US/by-industry/construction-industry-resources/technology/command.html</a:t>
            </a:r>
          </a:p>
          <a:p>
            <a:r>
              <a:t>- https://www.cat.com/en_US/news/machine-press-releases/cat-command-for-loading-now-available-for-cat-medium-wheel-loaders.html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13037A-530E-45C1-B47E-F151E2307D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991E8-3609-497C-BCA7-0BE01E0E2D80}"/>
              </a:ext>
            </a:extLst>
          </p:cNvPr>
          <p:cNvSpPr>
            <a:spLocks noGrp="1"/>
          </p:cNvSpPr>
          <p:nvPr/>
        </p:nvSpPr>
        <p:spPr>
          <a:xfrm>
            <a:off x="704850" y="647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1656B"/>
                </a:solidFill>
              </a:defRPr>
            </a:pPr>
            <a:r>
              <a:rPr sz="1125" b="1">
                <a:solidFill>
                  <a:srgbClr val="61656B"/>
                </a:solidFill>
              </a:rPr>
              <a:t>CUSTOMER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04FF0-2BA9-4A87-8502-A73F5A8AC3B3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9334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Move the operator away from risk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B6C4D9-1284-4898-90DF-E3AA6C0EF861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61656B"/>
                </a:solidFill>
              </a:defRPr>
            </a:pPr>
            <a:r>
              <a:rPr sz="1800" b="0">
                <a:solidFill>
                  <a:srgbClr val="61656B"/>
                </a:solidFill>
              </a:rPr>
              <a:t>A high-level overview of remote control and autonomous capability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16159-68C9-44F3-A964-D958214164DE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809750" cy="762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763B2-4EDD-4476-8883-5C83271B6669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Carter Machinery Site Services</a:t>
            </a:r>
          </a:p>
        </p:txBody>
      </p:sp>
    </p:spTree>
    <p:extLst>
      <p:ext uri="{BB962C8B-B14F-4D97-AF65-F5344CB8AC3E}">
        <p14:creationId xmlns:p14="http://schemas.microsoft.com/office/powerpoint/2010/main" val="104007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9C9F7E-BEEC-476C-A781-16B9C942C46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31EB99-E323-4A79-95C6-7ACA9E00DBB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94BFD-3E79-41E4-8ED8-2728B3495850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Command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84487-1115-479F-A3FD-B91684D93A16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69B31-4FFF-4D07-A46A-7421383AACA8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THE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A77E5-8F53-4660-BD79-0A69B5A296D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28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The safest cab can be outside the hazard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FEF21-BD65-44E9-86F1-D4148ED54EED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238250" cy="66675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8CEED1-873A-45E5-B882-BD2EFCFA315F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76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Cat Command helps operators control supported machines from a safer location while maintaining the precision and productivity the work demands.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73202-5FFA-45C8-AA67-3867C92D5829}"/>
              </a:ext>
            </a:extLst>
          </p:cNvPr>
          <p:cNvSpPr>
            <a:spLocks noGrp="1"/>
          </p:cNvSpPr>
          <p:nvPr/>
        </p:nvSpPr>
        <p:spPr>
          <a:xfrm>
            <a:off x="8143875" y="2152650"/>
            <a:ext cx="3333750" cy="295275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EDA207-1ED1-4FE5-BFF7-1AE35FC719BA}"/>
              </a:ext>
            </a:extLst>
          </p:cNvPr>
          <p:cNvSpPr>
            <a:spLocks noGrp="1"/>
          </p:cNvSpPr>
          <p:nvPr/>
        </p:nvSpPr>
        <p:spPr>
          <a:xfrm>
            <a:off x="8524875" y="25717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More than remote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9DF978-431D-4553-AA7F-46CD43539672}"/>
              </a:ext>
            </a:extLst>
          </p:cNvPr>
          <p:cNvSpPr>
            <a:spLocks noGrp="1"/>
          </p:cNvSpPr>
          <p:nvPr/>
        </p:nvSpPr>
        <p:spPr>
          <a:xfrm>
            <a:off x="8524875" y="3333750"/>
            <a:ext cx="25717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6E6E6"/>
                </a:solidFill>
              </a:defRPr>
            </a:pPr>
            <a:r>
              <a:rPr sz="1425" b="0">
                <a:solidFill>
                  <a:srgbClr val="E6E6E6"/>
                </a:solidFill>
              </a:rPr>
              <a:t>The Command portfolio spans line-of-sight control, remote stations, semi-autonomous processes, and autonomous solutions.</a:t>
            </a:r>
          </a:p>
        </p:txBody>
      </p:sp>
    </p:spTree>
    <p:extLst>
      <p:ext uri="{BB962C8B-B14F-4D97-AF65-F5344CB8AC3E}">
        <p14:creationId xmlns:p14="http://schemas.microsoft.com/office/powerpoint/2010/main" val="68508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1EB711-2446-4711-B2B7-F37D5A0DB0A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ED99F5-CE7F-4B42-90E7-4D9C2D6022F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BC0CF6-2881-4C1F-9291-8FF3718A1FD5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Command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4CE84-1980-4CFB-9042-8210F45F1615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96036-B3A7-43AA-A6C4-8B2446CC129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CAPABILITY SPECTRUM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2CDCE7-0A58-44AB-9CBA-8A479FA90E4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Choose the right level of separation and automation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3A0A39-5F5A-460F-B871-C5704436362D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DDC9A-54FA-4351-A5A4-8157BAA8F2F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7C5D6-D2BD-4303-AAF9-6FC3C9ACA40F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78011C-1ACB-4D07-83D6-0478B69E88C1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Line of sight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8C5E6B-B625-4A16-BE39-78EB2919E23F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A portable console lets the operator control select equipment while maintaining direct visual contact.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0CAE40-E393-455E-94BD-F2563A27F711}"/>
              </a:ext>
            </a:extLst>
          </p:cNvPr>
          <p:cNvSpPr>
            <a:spLocks noGrp="1"/>
          </p:cNvSpPr>
          <p:nvPr/>
        </p:nvSpPr>
        <p:spPr>
          <a:xfrm>
            <a:off x="43815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32B668-4E70-4E83-96CC-11CD1902189C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C686DE-2578-42A3-BF02-DBBEB04C5882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Remote station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B61632-ED43-4186-85E3-FFB8A31FF93E}"/>
              </a:ext>
            </a:extLst>
          </p:cNvPr>
          <p:cNvSpPr>
            <a:spLocks noGrp="1"/>
          </p:cNvSpPr>
          <p:nvPr/>
        </p:nvSpPr>
        <p:spPr>
          <a:xfrm>
            <a:off x="43815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A cab-like station provides controls, displays, and camera views from a comfortable location.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C48996-4803-4C1B-97E9-3AD752F80A9C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B050B7-2A34-4D06-9F9D-03714F155CF4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E1933E-E031-4593-82AE-13F479D87E14}"/>
              </a:ext>
            </a:extLst>
          </p:cNvPr>
          <p:cNvSpPr>
            <a:spLocks noGrp="1"/>
          </p:cNvSpPr>
          <p:nvPr/>
        </p:nvSpPr>
        <p:spPr>
          <a:xfrm>
            <a:off x="80772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Autonomy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587678-0BF5-4F8C-9968-171DD9770731}"/>
              </a:ext>
            </a:extLst>
          </p:cNvPr>
          <p:cNvSpPr>
            <a:spLocks noGrp="1"/>
          </p:cNvSpPr>
          <p:nvPr/>
        </p:nvSpPr>
        <p:spPr>
          <a:xfrm>
            <a:off x="80772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Semi-autonomous and fully autonomous capabilities can automate selected tasks or workflows.</a:t>
            </a:r>
          </a:p>
        </p:txBody>
      </p:sp>
    </p:spTree>
    <p:extLst>
      <p:ext uri="{BB962C8B-B14F-4D97-AF65-F5344CB8AC3E}">
        <p14:creationId xmlns:p14="http://schemas.microsoft.com/office/powerpoint/2010/main" val="104309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57D4298-AD35-4D38-ACDB-940042B118D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EBE8D7-C7E4-41FF-B55A-E253E21D340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1C721C-2057-4C0F-B01F-E97AB21E3E9F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Command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186F74-0B4F-4CD6-946B-4968AF9F2865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A5ED7-0F97-4E5D-894F-E3C7AA799EA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HOW VALUE IS CREATED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EA36-2C33-4966-9966-8A293D23D3A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Distance from the machine can improve more than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6C031-F860-4A72-BAE7-8C65572F2CB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" cy="6858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DDF3BF-9437-439D-9F3F-CC1FEC55759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AC4C23-CB2A-4F17-B08A-339B096F7A25}"/>
              </a:ext>
            </a:extLst>
          </p:cNvPr>
          <p:cNvSpPr>
            <a:spLocks noGrp="1"/>
          </p:cNvSpPr>
          <p:nvPr/>
        </p:nvSpPr>
        <p:spPr>
          <a:xfrm>
            <a:off x="1857375" y="1809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Remove exposure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43C919-2F0D-43D8-A3DE-87BDC2F06E73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Separate the operator from unstable ground, hazardous materials, or difficult environments.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65054-25C0-437A-B366-622AFE9616F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26ED3-9A62-4381-81EF-EEEF9A86461A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AB40A0-989F-4C1E-91F3-31711002066C}"/>
              </a:ext>
            </a:extLst>
          </p:cNvPr>
          <p:cNvSpPr>
            <a:spLocks noGrp="1"/>
          </p:cNvSpPr>
          <p:nvPr/>
        </p:nvSpPr>
        <p:spPr>
          <a:xfrm>
            <a:off x="1857375" y="2952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Maintain control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C08235-5CEC-4FB8-9012-4271F875C875}"/>
              </a:ext>
            </a:extLst>
          </p:cNvPr>
          <p:cNvSpPr>
            <a:spLocks noGrp="1"/>
          </p:cNvSpPr>
          <p:nvPr/>
        </p:nvSpPr>
        <p:spPr>
          <a:xfrm>
            <a:off x="4953000" y="2952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Integrated machine systems support familiar, precise operation.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C3736-950C-400D-8F03-0925A510F45B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64D910-40E5-4D65-8D64-8CE257163648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C506A8-FF35-4999-B8BF-9259A2F4FA20}"/>
              </a:ext>
            </a:extLst>
          </p:cNvPr>
          <p:cNvSpPr>
            <a:spLocks noGrp="1"/>
          </p:cNvSpPr>
          <p:nvPr/>
        </p:nvSpPr>
        <p:spPr>
          <a:xfrm>
            <a:off x="1857375" y="4095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Increase flexibility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850E85-0280-459C-B405-C4BB42EB6F7F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Remote work can expand where operators work and how talent is deployed.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9749E9-8205-457D-BEE4-3D47EBCB2AFC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F4DBEC-CF5D-48F1-A63B-46C604A4DC7E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669336-CBC6-4097-8B6D-49059F1A2CBC}"/>
              </a:ext>
            </a:extLst>
          </p:cNvPr>
          <p:cNvSpPr>
            <a:spLocks noGrp="1"/>
          </p:cNvSpPr>
          <p:nvPr/>
        </p:nvSpPr>
        <p:spPr>
          <a:xfrm>
            <a:off x="1857375" y="5238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Scale capability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3A338B-1DED-4DC4-BDD9-0929AC456863}"/>
              </a:ext>
            </a:extLst>
          </p:cNvPr>
          <p:cNvSpPr>
            <a:spLocks noGrp="1"/>
          </p:cNvSpPr>
          <p:nvPr/>
        </p:nvSpPr>
        <p:spPr>
          <a:xfrm>
            <a:off x="4953000" y="5238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Build from remote control toward greater automation as the operation is ready.</a:t>
            </a:r>
          </a:p>
        </p:txBody>
      </p:sp>
    </p:spTree>
    <p:extLst>
      <p:ext uri="{BB962C8B-B14F-4D97-AF65-F5344CB8AC3E}">
        <p14:creationId xmlns:p14="http://schemas.microsoft.com/office/powerpoint/2010/main" val="36710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7E328EB-AF44-4263-8C94-151C7DA4844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9FCC90-CBC2-4790-BB2B-A0E5E087A49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885BE-8780-4EC6-8F19-8BB21D2E0A83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Command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05097-7375-4EDD-A26B-33326DF01EE5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D75FD-8E06-4672-B1E2-7BE5D6F36C4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POTENTIAL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3E49F-8D3E-430D-A1E6-1A903B28D70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Command is strongest where exposure or access limits the 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DA813B-3306-4622-B127-FCE6A0B3D80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54400" cy="3524250"/>
          </a:xfrm>
          <a:prstGeom prst="rect">
            <a:avLst/>
          </a:prstGeom>
          <a:solidFill>
            <a:srgbClr val="242424"/>
          </a:solidFill>
          <a:ln w="9525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C7192-D6DE-4BB7-B259-0E09EA64D763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921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Hazardous environments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9ED26-F22A-498E-B86E-25592D40F488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85725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5C915E-1CF4-4306-85C1-9C6E0238FD17}"/>
              </a:ext>
            </a:extLst>
          </p:cNvPr>
          <p:cNvSpPr>
            <a:spLocks noGrp="1"/>
          </p:cNvSpPr>
          <p:nvPr/>
        </p:nvSpPr>
        <p:spPr>
          <a:xfrm>
            <a:off x="952500" y="3190875"/>
            <a:ext cx="2921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E6E6E6"/>
                </a:solidFill>
              </a:defRPr>
            </a:pPr>
            <a:r>
              <a:rPr sz="1350" b="0">
                <a:solidFill>
                  <a:srgbClr val="E6E6E6"/>
                </a:solidFill>
              </a:rPr>
              <a:t>Demolition, remediation, stockpiles, unstable ground, and material-handling applications.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F2285-AB1D-4198-8821-D58E69BDF3A5}"/>
              </a:ext>
            </a:extLst>
          </p:cNvPr>
          <p:cNvSpPr>
            <a:spLocks noGrp="1"/>
          </p:cNvSpPr>
          <p:nvPr/>
        </p:nvSpPr>
        <p:spPr>
          <a:xfrm>
            <a:off x="4368800" y="1809750"/>
            <a:ext cx="3454400" cy="3524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73D81-B3CF-4AC6-9A8D-8FD7ACFAF94F}"/>
              </a:ext>
            </a:extLst>
          </p:cNvPr>
          <p:cNvSpPr>
            <a:spLocks noGrp="1"/>
          </p:cNvSpPr>
          <p:nvPr/>
        </p:nvSpPr>
        <p:spPr>
          <a:xfrm>
            <a:off x="4635500" y="2095500"/>
            <a:ext cx="2921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Difficult access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43114C-1CE6-4ECA-82BA-36A8F2A5E816}"/>
              </a:ext>
            </a:extLst>
          </p:cNvPr>
          <p:cNvSpPr>
            <a:spLocks noGrp="1"/>
          </p:cNvSpPr>
          <p:nvPr/>
        </p:nvSpPr>
        <p:spPr>
          <a:xfrm>
            <a:off x="4635500" y="2876550"/>
            <a:ext cx="85725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49F49-5EEE-4375-AF1A-9C3B1887701B}"/>
              </a:ext>
            </a:extLst>
          </p:cNvPr>
          <p:cNvSpPr>
            <a:spLocks noGrp="1"/>
          </p:cNvSpPr>
          <p:nvPr/>
        </p:nvSpPr>
        <p:spPr>
          <a:xfrm>
            <a:off x="4635500" y="3190875"/>
            <a:ext cx="2921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Work where visibility, distance, weather, or site conditions challenge conventional operation.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44CD1D-3EBF-4641-8118-CFFA50066214}"/>
              </a:ext>
            </a:extLst>
          </p:cNvPr>
          <p:cNvSpPr>
            <a:spLocks noGrp="1"/>
          </p:cNvSpPr>
          <p:nvPr/>
        </p:nvSpPr>
        <p:spPr>
          <a:xfrm>
            <a:off x="8051800" y="1809750"/>
            <a:ext cx="3454400" cy="3524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A37AD7-6B67-48F5-AE4C-5E57DF2111AE}"/>
              </a:ext>
            </a:extLst>
          </p:cNvPr>
          <p:cNvSpPr>
            <a:spLocks noGrp="1"/>
          </p:cNvSpPr>
          <p:nvPr/>
        </p:nvSpPr>
        <p:spPr>
          <a:xfrm>
            <a:off x="8318500" y="2095500"/>
            <a:ext cx="2921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Workforce flexibility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2EB014-26E8-46E3-806D-98A107940EF0}"/>
              </a:ext>
            </a:extLst>
          </p:cNvPr>
          <p:cNvSpPr>
            <a:spLocks noGrp="1"/>
          </p:cNvSpPr>
          <p:nvPr/>
        </p:nvSpPr>
        <p:spPr>
          <a:xfrm>
            <a:off x="8318500" y="2876550"/>
            <a:ext cx="85725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1A9642-5940-469B-80CC-C5A1377DC8C5}"/>
              </a:ext>
            </a:extLst>
          </p:cNvPr>
          <p:cNvSpPr>
            <a:spLocks noGrp="1"/>
          </p:cNvSpPr>
          <p:nvPr/>
        </p:nvSpPr>
        <p:spPr>
          <a:xfrm>
            <a:off x="8318500" y="3190875"/>
            <a:ext cx="2921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Create a more comfortable operating environment and broaden access to skilled operators.</a:t>
            </a:r>
          </a:p>
        </p:txBody>
      </p:sp>
    </p:spTree>
    <p:extLst>
      <p:ext uri="{BB962C8B-B14F-4D97-AF65-F5344CB8AC3E}">
        <p14:creationId xmlns:p14="http://schemas.microsoft.com/office/powerpoint/2010/main" val="46862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4D6F59F-4C9F-4A96-B26B-7D35BC1083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A46BEC-63C7-45F7-A77E-5227CE621111}"/>
              </a:ext>
            </a:extLst>
          </p:cNvPr>
          <p:cNvSpPr>
            <a:spLocks noGrp="1"/>
          </p:cNvSpPr>
          <p:nvPr/>
        </p:nvSpPr>
        <p:spPr>
          <a:xfrm>
            <a:off x="704850" y="666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C7C7C7"/>
                </a:solidFill>
              </a:defRPr>
            </a:pPr>
            <a:r>
              <a:rPr sz="1050" b="1">
                <a:solidFill>
                  <a:srgbClr val="C7C7C7"/>
                </a:solidFill>
              </a:rPr>
              <a:t>RECOMMENDED NEXT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E5978D-042D-41A1-AAEE-116565D68276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9906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Start with the application—not the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3B84FA-AD1A-403A-8243-9A5870C0049D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D9D9D9"/>
                </a:solidFill>
              </a:defRPr>
            </a:pPr>
            <a:r>
              <a:rPr sz="1725" b="0">
                <a:solidFill>
                  <a:srgbClr val="D9D9D9"/>
                </a:solidFill>
              </a:rPr>
              <a:t>Define the hazard, task, machine, connectivity, and operating goals first. Site Services can then help identify the right Command configuration.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63DC9-6BDB-4099-8A56-C02A7D7C4C2E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4762500" cy="8572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098254-6866-4921-9D47-EF8971FA93DB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4238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Schedule an application assessment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F838BB-A4BB-43D7-86F4-CB8523BDFCB6}"/>
              </a:ext>
            </a:extLst>
          </p:cNvPr>
          <p:cNvSpPr>
            <a:spLocks noGrp="1"/>
          </p:cNvSpPr>
          <p:nvPr/>
        </p:nvSpPr>
        <p:spPr>
          <a:xfrm>
            <a:off x="742950" y="62388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rPr sz="900" b="0">
                <a:solidFill>
                  <a:srgbClr val="BDBDBD"/>
                </a:solidFill>
              </a:rPr>
              <a:t>Cat Command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88ECD5-06F5-4710-9CF3-43B9BCC81A52}"/>
              </a:ext>
            </a:extLst>
          </p:cNvPr>
          <p:cNvSpPr>
            <a:spLocks noGrp="1"/>
          </p:cNvSpPr>
          <p:nvPr/>
        </p:nvSpPr>
        <p:spPr>
          <a:xfrm>
            <a:off x="10668000" y="623887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BDBDBD"/>
                </a:solidFill>
              </a:defRPr>
            </a:pPr>
            <a:r>
              <a:rPr sz="900" b="1">
                <a:solidFill>
                  <a:srgbClr val="BDBDB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5392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DocSecurity>0</DocSecurity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Tyler Fisher</cp:lastModifiedBy>
  <cp:revision>1</cp:revision>
  <dcterms:created xsi:type="dcterms:W3CDTF">2026-09-03T13:35:48Z</dcterms:created>
  <dcterms:modified xsi:type="dcterms:W3CDTF">2026-09-03T14:23:17Z</dcterms:modified>
</cp:coreProperties>
</file>