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customer outcome: safer work, clearer visibility, and a practical path to adoption.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- https://www.cat.com/en_US/news/machine-press-releases/caterpillar-brings-intelligent-solutions-to-life.html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- https://www.cat.com/en_US/news/machine-press-releases/caterpillar-brings-intelligent-solutions-to-life.html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- https://www.cat.com/en_US/news/machine-press-releases/caterpillar-brings-intelligent-solutions-to-life.html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https://www.cat.com/en_US/products/new/technology/detect/detect/128121.html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03BCB9-1859-4FB8-A868-DDAE9EB5A3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BAAB2-AF6E-417C-9508-FC41E956E095}"/>
              </a:ext>
            </a:extLst>
          </p:cNvPr>
          <p:cNvSpPr>
            <a:spLocks noGrp="1"/>
          </p:cNvSpPr>
          <p:nvPr/>
        </p:nvSpPr>
        <p:spPr>
          <a:xfrm>
            <a:off x="704850" y="647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1656B"/>
                </a:solidFill>
              </a:defRPr>
            </a:pPr>
            <a:r>
              <a:rPr sz="1125" b="1">
                <a:solidFill>
                  <a:srgbClr val="61656B"/>
                </a:solidFill>
              </a:rPr>
              <a:t>CUSTOMER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04A777-6275-42FC-8CA8-71A0CD7B4486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9334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Add another layer of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66EFE-4B26-48F6-B591-7D3312E90FD9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61656B"/>
                </a:solidFill>
              </a:defRPr>
            </a:pPr>
            <a:r>
              <a:rPr sz="1800" b="0">
                <a:solidFill>
                  <a:srgbClr val="61656B"/>
                </a:solidFill>
              </a:rPr>
              <a:t>A high-level overview of Cat Detect – Collision Mitigation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F1013-4F8E-47AA-8C77-36026ED35AAD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809750" cy="762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3869A-2BBD-4F6D-B852-560700E36A4E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Carter Machinery Site Services</a:t>
            </a:r>
          </a:p>
        </p:txBody>
      </p:sp>
    </p:spTree>
    <p:extLst>
      <p:ext uri="{BB962C8B-B14F-4D97-AF65-F5344CB8AC3E}">
        <p14:creationId xmlns:p14="http://schemas.microsoft.com/office/powerpoint/2010/main" val="30922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98859F-044C-4A7D-9A0E-ECC91AA9BC8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69934-F0DF-4087-8A32-92D7E3D6DAE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BEE5E-65E0-4135-8370-6A318ACC87CC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Collision Mitigation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79AF4-2F8B-45F7-846C-71A78AFB0A4C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2A8B4E-F4BE-4C82-A847-444394B4243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THE CHALLENGE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3980E-AC15-4B4A-BD7C-5CEABA7C1DB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8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Backing hazards demand more than a clear camera 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111E8-8D8D-4469-9804-68CD96AB7404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238250" cy="66675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8D72EC-3B32-401A-B341-A66AD684F5B6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76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Blind spots, changing traffic, and people working close to equipment can create risk in seconds.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EB4C4D-3254-43DE-9016-DD2F9D5E40F1}"/>
              </a:ext>
            </a:extLst>
          </p:cNvPr>
          <p:cNvSpPr>
            <a:spLocks noGrp="1"/>
          </p:cNvSpPr>
          <p:nvPr/>
        </p:nvSpPr>
        <p:spPr>
          <a:xfrm>
            <a:off x="8143875" y="2152650"/>
            <a:ext cx="3333750" cy="295275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B98FD-3467-4942-B95D-68B866D28C59}"/>
              </a:ext>
            </a:extLst>
          </p:cNvPr>
          <p:cNvSpPr>
            <a:spLocks noGrp="1"/>
          </p:cNvSpPr>
          <p:nvPr/>
        </p:nvSpPr>
        <p:spPr>
          <a:xfrm>
            <a:off x="8524875" y="25717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Operator assist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32B77-0425-49E3-9049-31C82D4D817F}"/>
              </a:ext>
            </a:extLst>
          </p:cNvPr>
          <p:cNvSpPr>
            <a:spLocks noGrp="1"/>
          </p:cNvSpPr>
          <p:nvPr/>
        </p:nvSpPr>
        <p:spPr>
          <a:xfrm>
            <a:off x="8524875" y="3333750"/>
            <a:ext cx="25717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6E6E6"/>
                </a:solidFill>
              </a:defRPr>
            </a:pPr>
            <a:r>
              <a:rPr sz="1425" b="0">
                <a:solidFill>
                  <a:srgbClr val="E6E6E6"/>
                </a:solidFill>
              </a:rPr>
              <a:t>Collision Mitigation is designed to enhance situational awareness and support the operator—it does not replace safe operating practices.</a:t>
            </a:r>
          </a:p>
        </p:txBody>
      </p:sp>
    </p:spTree>
    <p:extLst>
      <p:ext uri="{BB962C8B-B14F-4D97-AF65-F5344CB8AC3E}">
        <p14:creationId xmlns:p14="http://schemas.microsoft.com/office/powerpoint/2010/main" val="73798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4BE6B4E-3E71-4101-8AAE-24981070ABB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77F11D-CD91-40B7-BE7F-4D7C6CBCBBA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7CC95-47B4-4828-8F6B-EB9DE1D91BA6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Collision Mitigation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1A8A3-5A7F-461F-913B-08DA9D36AEEE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72499-8AAE-4C4D-857C-6CCC7D720B9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HOW IT HELPS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8F217-0AD1-4E15-88BE-A4ADE94D553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The system combines sensing, warning, and intervention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21528-FC6A-4BA5-9CB0-1F490D184363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C4DCB-7114-47CA-ABD8-9336839A77C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69571-89E3-472B-B396-8D9550B89357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07B93-721D-4FF4-BD5E-EE8F8963C22C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Detect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336557-1800-4415-8222-81E9578A59A0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An integrated sensor array monitors for collision potential behind the machine.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A05EB6-C064-4E72-A0C5-A07F7A1BCD3B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93C97-A580-4359-88B6-985948077B6C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B615E-7E8C-4B41-A67F-8101D5FBEC26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Warn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01908-EF56-4D16-A8C4-3391471D6856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Progressive visual and audible alerts help the operator understand proximity and urgency.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CE267-6607-4F70-A427-09E48FEECDE3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241F62-4FE1-455C-90A1-F639B81D583E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91FE0-CF20-4A40-BEB8-D94C1C489821}"/>
              </a:ext>
            </a:extLst>
          </p:cNvPr>
          <p:cNvSpPr>
            <a:spLocks noGrp="1"/>
          </p:cNvSpPr>
          <p:nvPr/>
        </p:nvSpPr>
        <p:spPr>
          <a:xfrm>
            <a:off x="80772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Assist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56699B-7EE9-4381-BA72-DDFCC683F257}"/>
              </a:ext>
            </a:extLst>
          </p:cNvPr>
          <p:cNvSpPr>
            <a:spLocks noGrp="1"/>
          </p:cNvSpPr>
          <p:nvPr/>
        </p:nvSpPr>
        <p:spPr>
          <a:xfrm>
            <a:off x="80772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Depending on the situation, the system can inhibit motion and enable automatic emergency braking.</a:t>
            </a:r>
          </a:p>
        </p:txBody>
      </p:sp>
    </p:spTree>
    <p:extLst>
      <p:ext uri="{BB962C8B-B14F-4D97-AF65-F5344CB8AC3E}">
        <p14:creationId xmlns:p14="http://schemas.microsoft.com/office/powerpoint/2010/main" val="1754038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E556278-5FF0-4CF5-B507-BD348A477B5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FE66C-052F-4C7E-B5CF-0CF5ED0556F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3C5578-EAE7-4461-A63E-BABB7984468F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Collision Mitigation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4CCA7-B6F5-431F-B58D-811EA2497E7D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B5AF4-C52E-4A62-93BA-07C707A4D4D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IN OPERATION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EB449-EB0E-4CE9-B576-305F6374DC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Risk response increases as the hazard gets closer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E9A41-4A0B-45D7-BC6F-5624EE37DE4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379E71-367D-42D2-8831-1A7EFEB382F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A1112-B756-4E7F-AC74-505EFC0565AF}"/>
              </a:ext>
            </a:extLst>
          </p:cNvPr>
          <p:cNvSpPr>
            <a:spLocks noGrp="1"/>
          </p:cNvSpPr>
          <p:nvPr/>
        </p:nvSpPr>
        <p:spPr>
          <a:xfrm>
            <a:off x="1857375" y="1809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Awareness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9B031E-861A-48FF-9AD2-C71A7498DE7E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The system identifies potential hazards within monitored zones.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69846-37F9-4438-8D07-C17019B643BF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83D2DB-BB0B-4C0E-9CE9-B285532AEA1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DC7195-3827-487D-9309-78D4A3B205CC}"/>
              </a:ext>
            </a:extLst>
          </p:cNvPr>
          <p:cNvSpPr>
            <a:spLocks noGrp="1"/>
          </p:cNvSpPr>
          <p:nvPr/>
        </p:nvSpPr>
        <p:spPr>
          <a:xfrm>
            <a:off x="1857375" y="2952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E5AEB-73EA-44C0-A08C-D685897CCF99}"/>
              </a:ext>
            </a:extLst>
          </p:cNvPr>
          <p:cNvSpPr>
            <a:spLocks noGrp="1"/>
          </p:cNvSpPr>
          <p:nvPr/>
        </p:nvSpPr>
        <p:spPr>
          <a:xfrm>
            <a:off x="4953000" y="2952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Warnings become more urgent as proximity decreases.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97276-A529-4C58-8A5C-F516E8738F4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0BCAA-771A-4537-B1DD-E97695BB70D6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5A7C98-3578-4214-A6C9-49DBF0AA5394}"/>
              </a:ext>
            </a:extLst>
          </p:cNvPr>
          <p:cNvSpPr>
            <a:spLocks noGrp="1"/>
          </p:cNvSpPr>
          <p:nvPr/>
        </p:nvSpPr>
        <p:spPr>
          <a:xfrm>
            <a:off x="1857375" y="4095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Critical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D9853B-81AD-4EA4-8922-3629A9B435BC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The operator receives the highest-level warning when risk is immediate.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EF3CA7-63D9-4A6F-A302-C93144172F6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AB394E-046C-42D6-899A-47B012FCA6CF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B8BA7B-B23D-465C-B90B-377B7E0EA4B3}"/>
              </a:ext>
            </a:extLst>
          </p:cNvPr>
          <p:cNvSpPr>
            <a:spLocks noGrp="1"/>
          </p:cNvSpPr>
          <p:nvPr/>
        </p:nvSpPr>
        <p:spPr>
          <a:xfrm>
            <a:off x="1857375" y="5238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Intervention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437694-9F85-4883-B59B-24201B5B02E2}"/>
              </a:ext>
            </a:extLst>
          </p:cNvPr>
          <p:cNvSpPr>
            <a:spLocks noGrp="1"/>
          </p:cNvSpPr>
          <p:nvPr/>
        </p:nvSpPr>
        <p:spPr>
          <a:xfrm>
            <a:off x="4953000" y="5238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Available motion-inhibit or braking functions can add another layer of assistance.</a:t>
            </a:r>
          </a:p>
        </p:txBody>
      </p:sp>
    </p:spTree>
    <p:extLst>
      <p:ext uri="{BB962C8B-B14F-4D97-AF65-F5344CB8AC3E}">
        <p14:creationId xmlns:p14="http://schemas.microsoft.com/office/powerpoint/2010/main" val="31997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695BA85-75B4-4CC4-AB18-BE50A5E8985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993116-E478-4784-8A8A-7A9F879E2F2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20311-80A0-473A-B157-176A326F6B5B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Collision Mitigation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5A460-621E-4FB7-B449-ADCA2F43ACD6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7AC22-69B7-4C97-9CA5-055D761AB92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WHY CUSTOMERS CONSIDER 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664CB-2D99-4404-B3E6-929D658830D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Protection extends beyond the moment in the cab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252D82-E2D0-4CE1-BA85-7D40D67A3C2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54400" cy="3524250"/>
          </a:xfrm>
          <a:prstGeom prst="rect">
            <a:avLst/>
          </a:prstGeom>
          <a:solidFill>
            <a:srgbClr val="242424"/>
          </a:solidFill>
          <a:ln w="9525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52672-0F5B-4B2C-999F-528B58E00F6E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Operator awareness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1DF74-225C-4656-B07A-5FA442F9E6F9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EDAAA-AB0F-45F6-9D46-46F23DBDACA7}"/>
              </a:ext>
            </a:extLst>
          </p:cNvPr>
          <p:cNvSpPr>
            <a:spLocks noGrp="1"/>
          </p:cNvSpPr>
          <p:nvPr/>
        </p:nvSpPr>
        <p:spPr>
          <a:xfrm>
            <a:off x="952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6E6E6"/>
                </a:solidFill>
              </a:defRPr>
            </a:pPr>
            <a:r>
              <a:rPr sz="1350" b="0">
                <a:solidFill>
                  <a:srgbClr val="E6E6E6"/>
                </a:solidFill>
              </a:rPr>
              <a:t>Help operators recognize people and objects that may be difficult to see.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92E53-1389-4197-A51A-345E42D66434}"/>
              </a:ext>
            </a:extLst>
          </p:cNvPr>
          <p:cNvSpPr>
            <a:spLocks noGrp="1"/>
          </p:cNvSpPr>
          <p:nvPr/>
        </p:nvSpPr>
        <p:spPr>
          <a:xfrm>
            <a:off x="4368800" y="1809750"/>
            <a:ext cx="3454400" cy="3524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F62AB1-17F3-4293-AB09-1DAED0AAC765}"/>
              </a:ext>
            </a:extLst>
          </p:cNvPr>
          <p:cNvSpPr>
            <a:spLocks noGrp="1"/>
          </p:cNvSpPr>
          <p:nvPr/>
        </p:nvSpPr>
        <p:spPr>
          <a:xfrm>
            <a:off x="4635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Ground-personnel safety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8C040-056E-4DB3-A3F4-CDCB99836B64}"/>
              </a:ext>
            </a:extLst>
          </p:cNvPr>
          <p:cNvSpPr>
            <a:spLocks noGrp="1"/>
          </p:cNvSpPr>
          <p:nvPr/>
        </p:nvSpPr>
        <p:spPr>
          <a:xfrm>
            <a:off x="4635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F5CC62-4D1D-4934-8D6B-1888BB7BFC1A}"/>
              </a:ext>
            </a:extLst>
          </p:cNvPr>
          <p:cNvSpPr>
            <a:spLocks noGrp="1"/>
          </p:cNvSpPr>
          <p:nvPr/>
        </p:nvSpPr>
        <p:spPr>
          <a:xfrm>
            <a:off x="4635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Add protection where struck-by exposure is a persistent jobsite concern.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BC8DB-E577-4EB8-8D65-09309B5FFA4B}"/>
              </a:ext>
            </a:extLst>
          </p:cNvPr>
          <p:cNvSpPr>
            <a:spLocks noGrp="1"/>
          </p:cNvSpPr>
          <p:nvPr/>
        </p:nvSpPr>
        <p:spPr>
          <a:xfrm>
            <a:off x="8051800" y="1809750"/>
            <a:ext cx="3454400" cy="3524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EBF854-0D5A-44D8-A547-23C2BB4989A8}"/>
              </a:ext>
            </a:extLst>
          </p:cNvPr>
          <p:cNvSpPr>
            <a:spLocks noGrp="1"/>
          </p:cNvSpPr>
          <p:nvPr/>
        </p:nvSpPr>
        <p:spPr>
          <a:xfrm>
            <a:off x="8318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Management insight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D966CA-F3EA-41E9-ABBA-A26BE29873C3}"/>
              </a:ext>
            </a:extLst>
          </p:cNvPr>
          <p:cNvSpPr>
            <a:spLocks noGrp="1"/>
          </p:cNvSpPr>
          <p:nvPr/>
        </p:nvSpPr>
        <p:spPr>
          <a:xfrm>
            <a:off x="8318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DF4457-15D4-4E75-AF16-3F658F7906B5}"/>
              </a:ext>
            </a:extLst>
          </p:cNvPr>
          <p:cNvSpPr>
            <a:spLocks noGrp="1"/>
          </p:cNvSpPr>
          <p:nvPr/>
        </p:nvSpPr>
        <p:spPr>
          <a:xfrm>
            <a:off x="8318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Review available event data and safety trends through VisionLink.</a:t>
            </a:r>
          </a:p>
        </p:txBody>
      </p:sp>
    </p:spTree>
    <p:extLst>
      <p:ext uri="{BB962C8B-B14F-4D97-AF65-F5344CB8AC3E}">
        <p14:creationId xmlns:p14="http://schemas.microsoft.com/office/powerpoint/2010/main" val="25495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CCA956-2033-49A4-A14F-077C3DAA5E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4FA179-3632-4E88-97DB-38EDB65136BE}"/>
              </a:ext>
            </a:extLst>
          </p:cNvPr>
          <p:cNvSpPr>
            <a:spLocks noGrp="1"/>
          </p:cNvSpPr>
          <p:nvPr/>
        </p:nvSpPr>
        <p:spPr>
          <a:xfrm>
            <a:off x="704850" y="666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C7C7C7"/>
                </a:solidFill>
              </a:defRPr>
            </a:pPr>
            <a:r>
              <a:rPr sz="1050" b="1">
                <a:solidFill>
                  <a:srgbClr val="C7C7C7"/>
                </a:solidFill>
              </a:rPr>
              <a:t>RECOMMENDED NEXT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0540C-5294-4DCC-B7F6-4D1C9C8DC7C0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990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Match the system to the machine and the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57EA48-6C25-4F0A-BBCE-1A78EF0A44AD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D9D9D9"/>
                </a:solidFill>
              </a:defRPr>
            </a:pPr>
            <a:r>
              <a:rPr sz="1725" b="0">
                <a:solidFill>
                  <a:srgbClr val="D9D9D9"/>
                </a:solidFill>
              </a:rPr>
              <a:t>Availability and functionality vary by model and configuration. Site Services can review the fleet, operating environment, and retrofit or factory options.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E1EEF4-6BB5-4B4D-87F7-553825B7BAB8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762500" cy="8572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899E6-0F7F-496F-B1AD-A6DAA1F78308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4238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Schedule a fleet compatibility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9DFE2C-EC38-4450-8974-9997E5A540A1}"/>
              </a:ext>
            </a:extLst>
          </p:cNvPr>
          <p:cNvSpPr>
            <a:spLocks noGrp="1"/>
          </p:cNvSpPr>
          <p:nvPr/>
        </p:nvSpPr>
        <p:spPr>
          <a:xfrm>
            <a:off x="742950" y="62388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rPr sz="900" b="0">
                <a:solidFill>
                  <a:srgbClr val="BDBDBD"/>
                </a:solidFill>
              </a:rPr>
              <a:t>Collision Mitigation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E4D2F6-BAFF-4575-84BB-E2600FE5C9A5}"/>
              </a:ext>
            </a:extLst>
          </p:cNvPr>
          <p:cNvSpPr>
            <a:spLocks noGrp="1"/>
          </p:cNvSpPr>
          <p:nvPr/>
        </p:nvSpPr>
        <p:spPr>
          <a:xfrm>
            <a:off x="10668000" y="623887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DBDBD"/>
                </a:solidFill>
              </a:defRPr>
            </a:pPr>
            <a:r>
              <a:rPr sz="900" b="1">
                <a:solidFill>
                  <a:srgbClr val="BDBDB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15582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DocSecurity>0</DocSecurity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Tyler Fisher</cp:lastModifiedBy>
  <cp:revision>1</cp:revision>
  <dcterms:created xsi:type="dcterms:W3CDTF">2026-09-03T13:35:47Z</dcterms:created>
  <dcterms:modified xsi:type="dcterms:W3CDTF">2026-09-03T14:22:08Z</dcterms:modified>
</cp:coreProperties>
</file>